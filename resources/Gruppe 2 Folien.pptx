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13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1024128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1536192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2048256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0" y="3072384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0" y="3584448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502920" y="292608"/>
            <a:ext cx="8138160" cy="4544568"/>
          </a:xfrm>
          <a:prstGeom prst="rect">
            <a:avLst/>
          </a:prstGeom>
          <a:solidFill>
            <a:srgbClr val="0A1F0A">
              <a:alpha val="0"/>
            </a:srgbClr>
          </a:solidFill>
          <a:ln w="1524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4572000" y="292608"/>
            <a:ext cx="0" cy="4544568"/>
          </a:xfrm>
          <a:prstGeom prst="line">
            <a:avLst/>
          </a:prstGeom>
          <a:noFill/>
          <a:ln w="1524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3913632" y="1906524"/>
            <a:ext cx="1316736" cy="1316736"/>
          </a:xfrm>
          <a:prstGeom prst="ellipse">
            <a:avLst/>
          </a:prstGeom>
          <a:solidFill>
            <a:srgbClr val="0A1F0A">
              <a:alpha val="0"/>
            </a:srgbClr>
          </a:solidFill>
          <a:ln w="1524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4526280" y="2519172"/>
            <a:ext cx="91440" cy="91440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0A">
              <a:alpha val="68000"/>
            </a:srgbClr>
          </a:solidFill>
          <a:ln w="12700">
            <a:solidFill>
              <a:srgbClr val="0A1F0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31520" y="1051560"/>
            <a:ext cx="7680960" cy="777240"/>
          </a:xfrm>
          <a:prstGeom prst="rect">
            <a:avLst/>
          </a:prstGeom>
          <a:noFill/>
          <a:ln/>
          <a:effectLst>
            <a:outerShdw blurRad="177800" dist="50800" dir="8100000" algn="bl" rotWithShape="0">
              <a:srgbClr val="000000">
                <a:alpha val="65000"/>
              </a:srgb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grosse Geld im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31520" y="1755648"/>
            <a:ext cx="7680960" cy="777240"/>
          </a:xfrm>
          <a:prstGeom prst="rect">
            <a:avLst/>
          </a:prstGeom>
          <a:noFill/>
          <a:ln/>
          <a:effectLst>
            <a:outerShdw blurRad="177800" dist="50800" dir="8100000" algn="bl" rotWithShape="0">
              <a:srgbClr val="000000">
                <a:alpha val="65000"/>
              </a:srgb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europäischen Fussball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Transfermärkte · Kapitalkonzentration · Eigentumsstrukturen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131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26564" y="320040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Topligen Europas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65676" y="32004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Scrollytelling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49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VDSS - FS26 – Wiese, Medved, Bärtschi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1024128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1536192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2048256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0" y="3072384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0" y="3584448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0" y="512064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0" y="563270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0A">
              <a:alpha val="58000"/>
            </a:srgbClr>
          </a:solidFill>
          <a:ln w="12700">
            <a:solidFill>
              <a:srgbClr val="0A1F0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292608" y="164592"/>
            <a:ext cx="274320" cy="274320"/>
          </a:xfrm>
          <a:prstGeom prst="ellipse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292608" y="164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&amp; Hauptziel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85800" y="749808"/>
            <a:ext cx="8138160" cy="0"/>
          </a:xfrm>
          <a:prstGeom prst="line">
            <a:avLst/>
          </a:prstGeom>
          <a:noFill/>
          <a:ln w="17780">
            <a:solidFill>
              <a:srgbClr val="E9005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502920" y="960120"/>
            <a:ext cx="3840480" cy="379476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solidFill>
            <a:srgbClr val="04F5FF">
              <a:alpha val="85000"/>
            </a:srgbClr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344168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Finanzen der 5 grössten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europäischen Fussballligen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· Bundesliga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 · Ligue 1 · Serie 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Zeitraum: Saisons 2010 – 2024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Schwerpunkte: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Transfermarkt-Entwicklung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Kapitalkonzentration der Topklubs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UEFA-Kaderkosten-Regel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Eigentumsstrukturen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4206240" cy="379476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206240" cy="320040"/>
          </a:xfrm>
          <a:prstGeom prst="rect">
            <a:avLst/>
          </a:prstGeom>
          <a:solidFill>
            <a:srgbClr val="00FF85">
              <a:alpha val="85000"/>
            </a:srgbClr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457200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HAUPTZIEL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14173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€ 22 Mrd.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4663440" y="20756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Transfervolumen in den Top-5-Ligen 2024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468880"/>
            <a:ext cx="3657600" cy="0"/>
          </a:xfrm>
          <a:prstGeom prst="line">
            <a:avLst/>
          </a:prstGeom>
          <a:noFill/>
          <a:ln w="10160">
            <a:solidFill>
              <a:srgbClr val="00FF8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4663440" y="265176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wachsende Finanzkluft zwischen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Topklubs und dem Rest sichtbar machen.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scrollbares Narrativ zeigt, wie Geld</a:t>
            </a:r>
            <a:endParaRPr lang="en-US" sz="1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modernen </a:t>
            </a:r>
            <a:r>
              <a:rPr lang="en-US" sz="1250" dirty="0" err="1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Fussball</a:t>
            </a:r>
            <a:r>
              <a:rPr lang="en-US" sz="125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verändert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1024128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1536192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2048256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0" y="3072384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0" y="3584448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0" y="512064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0" y="563270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0A">
              <a:alpha val="58000"/>
            </a:srgbClr>
          </a:solidFill>
          <a:ln w="12700">
            <a:solidFill>
              <a:srgbClr val="0A1F0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292608" y="164592"/>
            <a:ext cx="274320" cy="274320"/>
          </a:xfrm>
          <a:prstGeom prst="ellipse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292608" y="164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85800" y="749808"/>
            <a:ext cx="8138160" cy="0"/>
          </a:xfrm>
          <a:prstGeom prst="line">
            <a:avLst/>
          </a:prstGeom>
          <a:noFill/>
          <a:ln w="17780">
            <a:solidFill>
              <a:srgbClr val="00FF8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65760" y="960120"/>
            <a:ext cx="3931920" cy="3794760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5760" y="960120"/>
            <a:ext cx="3931920" cy="45720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530352" y="1106424"/>
            <a:ext cx="402336" cy="402336"/>
          </a:xfrm>
          <a:prstGeom prst="ellipse">
            <a:avLst/>
          </a:prstGeom>
          <a:solidFill>
            <a:srgbClr val="04F5FF">
              <a:alpha val="80000"/>
            </a:srgbClr>
          </a:solidFill>
          <a:ln w="1905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530352" y="1106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4128" y="110642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Junge Fussballer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" y="138074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bis ~30 Jahre | spielen selbst aktiv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" y="1709928"/>
            <a:ext cx="3611880" cy="0"/>
          </a:xfrm>
          <a:prstGeom prst="line">
            <a:avLst/>
          </a:prstGeom>
          <a:noFill/>
          <a:ln w="9525">
            <a:solidFill>
              <a:srgbClr val="04F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566928" y="1837944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Kennen Spieler und Transfers aus eigener Perspektive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Hohes Interesse an Vereins- und Ligafinanzen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Statistik-affin, wollen Zahlen verstehen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sie erwarten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Zahlen und Ligarvergleiche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Hintergründe zu grossen Transfers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und Tiefen-Analyse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960120"/>
            <a:ext cx="3931920" cy="3794760"/>
          </a:xfrm>
          <a:prstGeom prst="rect">
            <a:avLst/>
          </a:prstGeom>
          <a:solidFill>
            <a:srgbClr val="000000">
              <a:alpha val="45000"/>
            </a:srgbClr>
          </a:solidFill>
          <a:ln w="254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4846320" y="960120"/>
            <a:ext cx="3931920" cy="45720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010912" y="1106424"/>
            <a:ext cx="402336" cy="402336"/>
          </a:xfrm>
          <a:prstGeom prst="ellipse">
            <a:avLst/>
          </a:prstGeom>
          <a:solidFill>
            <a:srgbClr val="E90052">
              <a:alpha val="80000"/>
            </a:srgbClr>
          </a:solidFill>
          <a:ln w="1905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5010912" y="1106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110642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Ältere Fussballfans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04688" y="138074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Unterhaltungs-orientiert | ~60+ Jahre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10912" y="1709928"/>
            <a:ext cx="3611880" cy="0"/>
          </a:xfrm>
          <a:prstGeom prst="line">
            <a:avLst/>
          </a:prstGeom>
          <a:noFill/>
          <a:ln w="9525">
            <a:solidFill>
              <a:srgbClr val="E9005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5047488" y="1837944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Schauen Fussball zur Unterhaltung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datenaffin, schätzen Kontext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Interessiert an Entwicklungen über die Zeit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sie erwarten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Zugängliches Storytelling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Grafiken ohne Informations-Overload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Einbettung in bekannte Ereignisse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1024128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1536192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2048256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0" y="3072384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0" y="3584448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0A">
              <a:alpha val="58000"/>
            </a:srgbClr>
          </a:solidFill>
          <a:ln w="12700">
            <a:solidFill>
              <a:srgbClr val="0A1F0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292608" y="164592"/>
            <a:ext cx="274320" cy="2743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292608" y="164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Elemente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85800" y="749808"/>
            <a:ext cx="8138160" cy="0"/>
          </a:xfrm>
          <a:prstGeom prst="line">
            <a:avLst/>
          </a:prstGeom>
          <a:noFill/>
          <a:ln w="17780">
            <a:solidFill>
              <a:srgbClr val="FFD7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65760" y="914400"/>
            <a:ext cx="3977640" cy="1737360"/>
          </a:xfrm>
          <a:prstGeom prst="rect">
            <a:avLst/>
          </a:prstGeom>
          <a:solidFill>
            <a:srgbClr val="000000">
              <a:alpha val="42000"/>
            </a:srgbClr>
          </a:solidFill>
          <a:ln w="1905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5760" y="914400"/>
            <a:ext cx="64008" cy="1737360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530352" y="1024128"/>
            <a:ext cx="310896" cy="310896"/>
          </a:xfrm>
          <a:prstGeom prst="ellipse">
            <a:avLst/>
          </a:prstGeom>
          <a:solidFill>
            <a:srgbClr val="04F5FF">
              <a:alpha val="80000"/>
            </a:srgbClr>
          </a:solidFill>
          <a:ln w="1524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530352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Scrollytelling-Format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0352" y="1389888"/>
            <a:ext cx="3703320" cy="0"/>
          </a:xfrm>
          <a:prstGeom prst="line">
            <a:avLst/>
          </a:prstGeom>
          <a:noFill/>
          <a:ln w="8890">
            <a:solidFill>
              <a:srgbClr val="04F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54864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Author-driven Narration in 4 Akten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Linearer Lesefluss – kein Klick-Labyrinth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Sektion traegt eigene Kernbotschaft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914400"/>
            <a:ext cx="3977640" cy="1737360"/>
          </a:xfrm>
          <a:prstGeom prst="rect">
            <a:avLst/>
          </a:prstGeom>
          <a:solidFill>
            <a:srgbClr val="000000">
              <a:alpha val="42000"/>
            </a:srgbClr>
          </a:solidFill>
          <a:ln w="1905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4800600" y="914400"/>
            <a:ext cx="64008" cy="1737360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4965192" y="1024128"/>
            <a:ext cx="310896" cy="310896"/>
          </a:xfrm>
          <a:prstGeom prst="ellipse">
            <a:avLst/>
          </a:prstGeom>
          <a:solidFill>
            <a:srgbClr val="00FF85">
              <a:alpha val="80000"/>
            </a:srgbClr>
          </a:solidFill>
          <a:ln w="1524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4965192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76672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F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Visualisierungen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965192" y="1389888"/>
            <a:ext cx="3703320" cy="0"/>
          </a:xfrm>
          <a:prstGeom prst="line">
            <a:avLst/>
          </a:prstGeom>
          <a:noFill/>
          <a:ln w="8890">
            <a:solidFill>
              <a:srgbClr val="00FF8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498348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Plotly-Charts (hover, zoom)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je Liga – konsistent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</a:t>
            </a: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Zahlen, kleine Labels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907792"/>
            <a:ext cx="3977640" cy="1737360"/>
          </a:xfrm>
          <a:prstGeom prst="rect">
            <a:avLst/>
          </a:prstGeom>
          <a:solidFill>
            <a:srgbClr val="000000">
              <a:alpha val="42000"/>
            </a:srgbClr>
          </a:solidFill>
          <a:ln w="1905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365760" y="2907792"/>
            <a:ext cx="64008" cy="1737360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Shape 34"/>
          <p:cNvSpPr/>
          <p:nvPr/>
        </p:nvSpPr>
        <p:spPr>
          <a:xfrm>
            <a:off x="530352" y="3017520"/>
            <a:ext cx="310896" cy="310896"/>
          </a:xfrm>
          <a:prstGeom prst="ellipse">
            <a:avLst/>
          </a:prstGeom>
          <a:solidFill>
            <a:srgbClr val="E90052">
              <a:alpha val="80000"/>
            </a:srgbClr>
          </a:solidFill>
          <a:ln w="1524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530352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1832" y="2999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Ästhetik &amp; Metapher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30352" y="3383280"/>
            <a:ext cx="3703320" cy="0"/>
          </a:xfrm>
          <a:prstGeom prst="line">
            <a:avLst/>
          </a:prstGeom>
          <a:noFill/>
          <a:ln w="8890">
            <a:solidFill>
              <a:srgbClr val="E9005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548640" y="3456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Rasenstreifen </a:t>
            </a: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Fussball-Metapher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Ligafarben</a:t>
            </a: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strukturieren Inhalt visuell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907792"/>
            <a:ext cx="3977640" cy="1737360"/>
          </a:xfrm>
          <a:prstGeom prst="rect">
            <a:avLst/>
          </a:prstGeom>
          <a:solidFill>
            <a:srgbClr val="000000">
              <a:alpha val="42000"/>
            </a:srgbClr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Shape 40"/>
          <p:cNvSpPr/>
          <p:nvPr/>
        </p:nvSpPr>
        <p:spPr>
          <a:xfrm>
            <a:off x="4800600" y="2907792"/>
            <a:ext cx="64008" cy="17373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3" name="Shape 41"/>
          <p:cNvSpPr/>
          <p:nvPr/>
        </p:nvSpPr>
        <p:spPr>
          <a:xfrm>
            <a:off x="4965192" y="3017520"/>
            <a:ext cx="310896" cy="310896"/>
          </a:xfrm>
          <a:prstGeom prst="ellipse">
            <a:avLst/>
          </a:prstGeom>
          <a:solidFill>
            <a:srgbClr val="FFD700">
              <a:alpha val="80000"/>
            </a:srgbClr>
          </a:solidFill>
          <a:ln w="1524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4965192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76672" y="2999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Rhetorik &amp; Dramatik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965192" y="3383280"/>
            <a:ext cx="3703320" cy="0"/>
          </a:xfrm>
          <a:prstGeom prst="line">
            <a:avLst/>
          </a:prstGeom>
          <a:noFill/>
          <a:ln w="8890">
            <a:solidFill>
              <a:srgbClr val="FFD70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7" name="Text 45"/>
          <p:cNvSpPr/>
          <p:nvPr/>
        </p:nvSpPr>
        <p:spPr>
          <a:xfrm>
            <a:off x="4983480" y="3456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zuerst – dann Interpretation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Kontrast: Wachstum vs. Konzentration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UEFA-Regel </a:t>
            </a: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Mittel um </a:t>
            </a: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10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erzählen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9" name="Text 47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1" name="Text 49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Text 51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5" name="Text 53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7" name="Text 55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512064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0" y="1024128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0" y="1536192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0" y="2048256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0" y="3072384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Shape 7"/>
          <p:cNvSpPr/>
          <p:nvPr/>
        </p:nvSpPr>
        <p:spPr>
          <a:xfrm>
            <a:off x="0" y="3584448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2D6B1E"/>
          </a:solidFill>
          <a:ln w="12700">
            <a:solidFill>
              <a:srgbClr val="2D6B1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9144000" cy="512064"/>
          </a:xfrm>
          <a:prstGeom prst="rect">
            <a:avLst/>
          </a:prstGeom>
          <a:solidFill>
            <a:srgbClr val="4A8E32"/>
          </a:solidFill>
          <a:ln w="12700">
            <a:solidFill>
              <a:srgbClr val="4A8E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0A">
              <a:alpha val="58000"/>
            </a:srgbClr>
          </a:solidFill>
          <a:ln w="12700">
            <a:solidFill>
              <a:srgbClr val="0A1F0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292608" y="164592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292608" y="164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Aspekte für Feedback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85800" y="749808"/>
            <a:ext cx="8138160" cy="0"/>
          </a:xfrm>
          <a:prstGeom prst="line">
            <a:avLst/>
          </a:prstGeom>
          <a:noFill/>
          <a:ln w="17780">
            <a:solidFill>
              <a:srgbClr val="C084F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85800" y="8229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möchten vom Publikum Rückmeldung zu folgenden Aspekten: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1188720"/>
            <a:ext cx="3977640" cy="173736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530352" y="1316736"/>
            <a:ext cx="347472" cy="347472"/>
          </a:xfrm>
          <a:prstGeom prst="ellipse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530352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1298448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Klarheit &amp; </a:t>
            </a:r>
            <a:r>
              <a:rPr lang="en-US" sz="1250" b="1" dirty="0" err="1">
                <a:solidFill>
                  <a:srgbClr val="04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Verständlichkeit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0352" y="1737360"/>
            <a:ext cx="3703320" cy="0"/>
          </a:xfrm>
          <a:prstGeom prst="line">
            <a:avLst/>
          </a:prstGeom>
          <a:noFill/>
          <a:ln w="8890">
            <a:solidFill>
              <a:srgbClr val="04F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566928" y="1810512"/>
            <a:ext cx="36301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Visualisierungen und Texte für beide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verständlich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Gibt es Stellen, wo ein Einstieg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fehlt?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1188720"/>
            <a:ext cx="3977640" cy="1737360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4965192" y="1316736"/>
            <a:ext cx="347472" cy="347472"/>
          </a:xfrm>
          <a:prstGeom prst="ellipse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4965192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22392" y="1298448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F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Wirksamkeit der Grafiken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65192" y="1737360"/>
            <a:ext cx="3703320" cy="0"/>
          </a:xfrm>
          <a:prstGeom prst="line">
            <a:avLst/>
          </a:prstGeom>
          <a:noFill/>
          <a:ln w="8890">
            <a:solidFill>
              <a:srgbClr val="00FF8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5001768" y="1810512"/>
            <a:ext cx="36301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Unterstützen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Charts die Kernbotschaft? Welche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überzeugt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welche verwirrt oder ist redundant?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3182112"/>
            <a:ext cx="3977640" cy="1664208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530352" y="3310128"/>
            <a:ext cx="347472" cy="347472"/>
          </a:xfrm>
          <a:prstGeom prst="ellipse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/>
          <p:nvPr/>
        </p:nvSpPr>
        <p:spPr>
          <a:xfrm>
            <a:off x="53035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87552" y="3291840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Ästhetik &amp; Fussball-Feeling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30352" y="3730752"/>
            <a:ext cx="3703320" cy="0"/>
          </a:xfrm>
          <a:prstGeom prst="line">
            <a:avLst/>
          </a:prstGeom>
          <a:noFill/>
          <a:ln w="8890">
            <a:solidFill>
              <a:srgbClr val="E9005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566928" y="3803904"/>
            <a:ext cx="36301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Transportiert das Design das Fussball-Thema? Wirkt das Spielfeld-Layout stimmig oder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eher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störend</a:t>
            </a: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den Lesefluss?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00600" y="3182112"/>
            <a:ext cx="3977640" cy="1664208"/>
          </a:xfrm>
          <a:prstGeom prst="rect">
            <a:avLst/>
          </a:prstGeom>
          <a:solidFill>
            <a:srgbClr val="000000">
              <a:alpha val="40000"/>
            </a:srgbClr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Shape 38"/>
          <p:cNvSpPr/>
          <p:nvPr/>
        </p:nvSpPr>
        <p:spPr>
          <a:xfrm>
            <a:off x="4965192" y="3310128"/>
            <a:ext cx="347472" cy="34747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496519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22392" y="3291840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Blickwinkel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965192" y="3730752"/>
            <a:ext cx="3703320" cy="0"/>
          </a:xfrm>
          <a:prstGeom prst="line">
            <a:avLst/>
          </a:prstGeom>
          <a:noFill/>
          <a:ln w="8890">
            <a:solidFill>
              <a:srgbClr val="FFD70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5001768" y="3803904"/>
            <a:ext cx="36301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analytischen Aspekte vermisst ihr? Was sollte ergänzt werden, um das Bild vollständiger zu machen?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solidFill>
            <a:srgbClr val="04F5FF"/>
          </a:solidFill>
          <a:ln w="12700">
            <a:solidFill>
              <a:srgbClr val="04F5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8" name="Text 46"/>
          <p:cNvSpPr/>
          <p:nvPr/>
        </p:nvSpPr>
        <p:spPr>
          <a:xfrm>
            <a:off x="18288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0" name="Text 48"/>
          <p:cNvSpPr/>
          <p:nvPr/>
        </p:nvSpPr>
        <p:spPr>
          <a:xfrm>
            <a:off x="36576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solidFill>
            <a:srgbClr val="00FF85"/>
          </a:solidFill>
          <a:ln w="12700">
            <a:solidFill>
              <a:srgbClr val="00FF8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2" name="Text 50"/>
          <p:cNvSpPr/>
          <p:nvPr/>
        </p:nvSpPr>
        <p:spPr>
          <a:xfrm>
            <a:off x="54864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7315200" y="49423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402</Words>
  <Application>Microsoft Macintosh PowerPoint</Application>
  <PresentationFormat>On-screen Show (16:9)</PresentationFormat>
  <Paragraphs>123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grosse Geld im europäischen Fussball</dc:title>
  <dc:subject>PptxGenJS Presentation</dc:subject>
  <dc:creator>Jay</dc:creator>
  <cp:lastModifiedBy>Bärtschi Jay (baertjay)</cp:lastModifiedBy>
  <cp:revision>2</cp:revision>
  <dcterms:created xsi:type="dcterms:W3CDTF">2026-05-18T06:30:38Z</dcterms:created>
  <dcterms:modified xsi:type="dcterms:W3CDTF">2026-05-18T06:40:01Z</dcterms:modified>
</cp:coreProperties>
</file>
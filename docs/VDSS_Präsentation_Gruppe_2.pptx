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0052"/>
    <a:srgbClr val="01F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598EAC-4991-A246-A6B2-E2BE31312AF1}" v="4" dt="2026-05-31T19:32:07.7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14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20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ärtschi Jay (baertjay)" userId="619fb7ad-8857-432b-a8bc-ab88cee05735" providerId="ADAL" clId="{2C194D8F-255E-58AD-A156-8EFB0C1F17FF}"/>
    <pc:docChg chg="undo custSel modSld">
      <pc:chgData name="Bärtschi Jay (baertjay)" userId="619fb7ad-8857-432b-a8bc-ab88cee05735" providerId="ADAL" clId="{2C194D8F-255E-58AD-A156-8EFB0C1F17FF}" dt="2026-05-31T19:33:07.618" v="409" actId="1035"/>
      <pc:docMkLst>
        <pc:docMk/>
      </pc:docMkLst>
      <pc:sldChg chg="modSp mod">
        <pc:chgData name="Bärtschi Jay (baertjay)" userId="619fb7ad-8857-432b-a8bc-ab88cee05735" providerId="ADAL" clId="{2C194D8F-255E-58AD-A156-8EFB0C1F17FF}" dt="2026-05-31T19:30:04.868" v="344" actId="20577"/>
        <pc:sldMkLst>
          <pc:docMk/>
          <pc:sldMk cId="0" sldId="260"/>
        </pc:sldMkLst>
        <pc:spChg chg="mod">
          <ac:chgData name="Bärtschi Jay (baertjay)" userId="619fb7ad-8857-432b-a8bc-ab88cee05735" providerId="ADAL" clId="{2C194D8F-255E-58AD-A156-8EFB0C1F17FF}" dt="2026-05-31T19:24:46.181" v="58" actId="20577"/>
          <ac:spMkLst>
            <pc:docMk/>
            <pc:sldMk cId="0" sldId="260"/>
            <ac:spMk id="20" creationId="{00000000-0000-0000-0000-000000000000}"/>
          </ac:spMkLst>
        </pc:spChg>
        <pc:spChg chg="mod">
          <ac:chgData name="Bärtschi Jay (baertjay)" userId="619fb7ad-8857-432b-a8bc-ab88cee05735" providerId="ADAL" clId="{2C194D8F-255E-58AD-A156-8EFB0C1F17FF}" dt="2026-05-31T19:26:19.657" v="104" actId="20577"/>
          <ac:spMkLst>
            <pc:docMk/>
            <pc:sldMk cId="0" sldId="260"/>
            <ac:spMk id="22" creationId="{00000000-0000-0000-0000-000000000000}"/>
          </ac:spMkLst>
        </pc:spChg>
        <pc:spChg chg="mod">
          <ac:chgData name="Bärtschi Jay (baertjay)" userId="619fb7ad-8857-432b-a8bc-ab88cee05735" providerId="ADAL" clId="{2C194D8F-255E-58AD-A156-8EFB0C1F17FF}" dt="2026-05-31T19:26:36.783" v="113" actId="20577"/>
          <ac:spMkLst>
            <pc:docMk/>
            <pc:sldMk cId="0" sldId="260"/>
            <ac:spMk id="24" creationId="{00000000-0000-0000-0000-000000000000}"/>
          </ac:spMkLst>
        </pc:spChg>
        <pc:spChg chg="mod">
          <ac:chgData name="Bärtschi Jay (baertjay)" userId="619fb7ad-8857-432b-a8bc-ab88cee05735" providerId="ADAL" clId="{2C194D8F-255E-58AD-A156-8EFB0C1F17FF}" dt="2026-05-31T19:24:59.785" v="67" actId="20577"/>
          <ac:spMkLst>
            <pc:docMk/>
            <pc:sldMk cId="0" sldId="260"/>
            <ac:spMk id="27" creationId="{00000000-0000-0000-0000-000000000000}"/>
          </ac:spMkLst>
        </pc:spChg>
        <pc:spChg chg="mod">
          <ac:chgData name="Bärtschi Jay (baertjay)" userId="619fb7ad-8857-432b-a8bc-ab88cee05735" providerId="ADAL" clId="{2C194D8F-255E-58AD-A156-8EFB0C1F17FF}" dt="2026-05-31T19:26:53.358" v="139" actId="20577"/>
          <ac:spMkLst>
            <pc:docMk/>
            <pc:sldMk cId="0" sldId="260"/>
            <ac:spMk id="29" creationId="{00000000-0000-0000-0000-000000000000}"/>
          </ac:spMkLst>
        </pc:spChg>
        <pc:spChg chg="mod">
          <ac:chgData name="Bärtschi Jay (baertjay)" userId="619fb7ad-8857-432b-a8bc-ab88cee05735" providerId="ADAL" clId="{2C194D8F-255E-58AD-A156-8EFB0C1F17FF}" dt="2026-05-31T19:27:59.532" v="172" actId="20577"/>
          <ac:spMkLst>
            <pc:docMk/>
            <pc:sldMk cId="0" sldId="260"/>
            <ac:spMk id="31" creationId="{00000000-0000-0000-0000-000000000000}"/>
          </ac:spMkLst>
        </pc:spChg>
        <pc:spChg chg="mod">
          <ac:chgData name="Bärtschi Jay (baertjay)" userId="619fb7ad-8857-432b-a8bc-ab88cee05735" providerId="ADAL" clId="{2C194D8F-255E-58AD-A156-8EFB0C1F17FF}" dt="2026-05-31T19:25:08.932" v="73" actId="20577"/>
          <ac:spMkLst>
            <pc:docMk/>
            <pc:sldMk cId="0" sldId="260"/>
            <ac:spMk id="34" creationId="{00000000-0000-0000-0000-000000000000}"/>
          </ac:spMkLst>
        </pc:spChg>
        <pc:spChg chg="mod">
          <ac:chgData name="Bärtschi Jay (baertjay)" userId="619fb7ad-8857-432b-a8bc-ab88cee05735" providerId="ADAL" clId="{2C194D8F-255E-58AD-A156-8EFB0C1F17FF}" dt="2026-05-31T19:27:38.150" v="157" actId="20577"/>
          <ac:spMkLst>
            <pc:docMk/>
            <pc:sldMk cId="0" sldId="260"/>
            <ac:spMk id="36" creationId="{00000000-0000-0000-0000-000000000000}"/>
          </ac:spMkLst>
        </pc:spChg>
        <pc:spChg chg="mod">
          <ac:chgData name="Bärtschi Jay (baertjay)" userId="619fb7ad-8857-432b-a8bc-ab88cee05735" providerId="ADAL" clId="{2C194D8F-255E-58AD-A156-8EFB0C1F17FF}" dt="2026-05-31T19:28:38.860" v="231" actId="20577"/>
          <ac:spMkLst>
            <pc:docMk/>
            <pc:sldMk cId="0" sldId="260"/>
            <ac:spMk id="38" creationId="{00000000-0000-0000-0000-000000000000}"/>
          </ac:spMkLst>
        </pc:spChg>
        <pc:spChg chg="mod">
          <ac:chgData name="Bärtschi Jay (baertjay)" userId="619fb7ad-8857-432b-a8bc-ab88cee05735" providerId="ADAL" clId="{2C194D8F-255E-58AD-A156-8EFB0C1F17FF}" dt="2026-05-31T19:25:14.372" v="79" actId="20577"/>
          <ac:spMkLst>
            <pc:docMk/>
            <pc:sldMk cId="0" sldId="260"/>
            <ac:spMk id="41" creationId="{00000000-0000-0000-0000-000000000000}"/>
          </ac:spMkLst>
        </pc:spChg>
        <pc:spChg chg="mod">
          <ac:chgData name="Bärtschi Jay (baertjay)" userId="619fb7ad-8857-432b-a8bc-ab88cee05735" providerId="ADAL" clId="{2C194D8F-255E-58AD-A156-8EFB0C1F17FF}" dt="2026-05-31T19:23:27.868" v="14" actId="20577"/>
          <ac:spMkLst>
            <pc:docMk/>
            <pc:sldMk cId="0" sldId="260"/>
            <ac:spMk id="42" creationId="{00000000-0000-0000-0000-000000000000}"/>
          </ac:spMkLst>
        </pc:spChg>
        <pc:spChg chg="mod">
          <ac:chgData name="Bärtschi Jay (baertjay)" userId="619fb7ad-8857-432b-a8bc-ab88cee05735" providerId="ADAL" clId="{2C194D8F-255E-58AD-A156-8EFB0C1F17FF}" dt="2026-05-31T19:25:24.131" v="85" actId="20577"/>
          <ac:spMkLst>
            <pc:docMk/>
            <pc:sldMk cId="0" sldId="260"/>
            <ac:spMk id="48" creationId="{00000000-0000-0000-0000-000000000000}"/>
          </ac:spMkLst>
        </pc:spChg>
        <pc:spChg chg="mod">
          <ac:chgData name="Bärtschi Jay (baertjay)" userId="619fb7ad-8857-432b-a8bc-ab88cee05735" providerId="ADAL" clId="{2C194D8F-255E-58AD-A156-8EFB0C1F17FF}" dt="2026-05-31T19:24:08.278" v="42" actId="20577"/>
          <ac:spMkLst>
            <pc:docMk/>
            <pc:sldMk cId="0" sldId="260"/>
            <ac:spMk id="49" creationId="{00000000-0000-0000-0000-000000000000}"/>
          </ac:spMkLst>
        </pc:spChg>
        <pc:spChg chg="mod">
          <ac:chgData name="Bärtschi Jay (baertjay)" userId="619fb7ad-8857-432b-a8bc-ab88cee05735" providerId="ADAL" clId="{2C194D8F-255E-58AD-A156-8EFB0C1F17FF}" dt="2026-05-31T19:30:04.868" v="344" actId="20577"/>
          <ac:spMkLst>
            <pc:docMk/>
            <pc:sldMk cId="0" sldId="260"/>
            <ac:spMk id="52" creationId="{00000000-0000-0000-0000-000000000000}"/>
          </ac:spMkLst>
        </pc:spChg>
      </pc:sldChg>
      <pc:sldChg chg="addSp delSp modSp mod">
        <pc:chgData name="Bärtschi Jay (baertjay)" userId="619fb7ad-8857-432b-a8bc-ab88cee05735" providerId="ADAL" clId="{2C194D8F-255E-58AD-A156-8EFB0C1F17FF}" dt="2026-05-31T19:33:07.618" v="409" actId="1035"/>
        <pc:sldMkLst>
          <pc:docMk/>
          <pc:sldMk cId="0" sldId="261"/>
        </pc:sldMkLst>
        <pc:spChg chg="add del mod">
          <ac:chgData name="Bärtschi Jay (baertjay)" userId="619fb7ad-8857-432b-a8bc-ab88cee05735" providerId="ADAL" clId="{2C194D8F-255E-58AD-A156-8EFB0C1F17FF}" dt="2026-05-31T19:33:07.618" v="409" actId="1035"/>
          <ac:spMkLst>
            <pc:docMk/>
            <pc:sldMk cId="0" sldId="261"/>
            <ac:spMk id="19" creationId="{00000000-0000-0000-0000-000000000000}"/>
          </ac:spMkLst>
        </pc:spChg>
        <pc:spChg chg="add del">
          <ac:chgData name="Bärtschi Jay (baertjay)" userId="619fb7ad-8857-432b-a8bc-ab88cee05735" providerId="ADAL" clId="{2C194D8F-255E-58AD-A156-8EFB0C1F17FF}" dt="2026-05-31T19:32:33.026" v="379" actId="478"/>
          <ac:spMkLst>
            <pc:docMk/>
            <pc:sldMk cId="0" sldId="261"/>
            <ac:spMk id="20" creationId="{00000000-0000-0000-0000-000000000000}"/>
          </ac:spMkLst>
        </pc:spChg>
        <pc:spChg chg="add del">
          <ac:chgData name="Bärtschi Jay (baertjay)" userId="619fb7ad-8857-432b-a8bc-ab88cee05735" providerId="ADAL" clId="{2C194D8F-255E-58AD-A156-8EFB0C1F17FF}" dt="2026-05-31T19:32:28.371" v="376" actId="478"/>
          <ac:spMkLst>
            <pc:docMk/>
            <pc:sldMk cId="0" sldId="261"/>
            <ac:spMk id="21" creationId="{00000000-0000-0000-0000-000000000000}"/>
          </ac:spMkLst>
        </pc:spChg>
        <pc:spChg chg="mod">
          <ac:chgData name="Bärtschi Jay (baertjay)" userId="619fb7ad-8857-432b-a8bc-ab88cee05735" providerId="ADAL" clId="{2C194D8F-255E-58AD-A156-8EFB0C1F17FF}" dt="2026-05-31T19:33:07.618" v="409" actId="1035"/>
          <ac:spMkLst>
            <pc:docMk/>
            <pc:sldMk cId="0" sldId="261"/>
            <ac:spMk id="22" creationId="{00000000-0000-0000-0000-000000000000}"/>
          </ac:spMkLst>
        </pc:spChg>
        <pc:spChg chg="add del mod">
          <ac:chgData name="Bärtschi Jay (baertjay)" userId="619fb7ad-8857-432b-a8bc-ab88cee05735" providerId="ADAL" clId="{2C194D8F-255E-58AD-A156-8EFB0C1F17FF}" dt="2026-05-31T19:33:07.618" v="409" actId="1035"/>
          <ac:spMkLst>
            <pc:docMk/>
            <pc:sldMk cId="0" sldId="261"/>
            <ac:spMk id="23" creationId="{00000000-0000-0000-0000-000000000000}"/>
          </ac:spMkLst>
        </pc:spChg>
        <pc:spChg chg="add del mod">
          <ac:chgData name="Bärtschi Jay (baertjay)" userId="619fb7ad-8857-432b-a8bc-ab88cee05735" providerId="ADAL" clId="{2C194D8F-255E-58AD-A156-8EFB0C1F17FF}" dt="2026-05-31T19:33:07.618" v="409" actId="1035"/>
          <ac:spMkLst>
            <pc:docMk/>
            <pc:sldMk cId="0" sldId="261"/>
            <ac:spMk id="24" creationId="{00000000-0000-0000-0000-000000000000}"/>
          </ac:spMkLst>
        </pc:spChg>
        <pc:spChg chg="del mod">
          <ac:chgData name="Bärtschi Jay (baertjay)" userId="619fb7ad-8857-432b-a8bc-ab88cee05735" providerId="ADAL" clId="{2C194D8F-255E-58AD-A156-8EFB0C1F17FF}" dt="2026-05-31T19:32:41.009" v="381" actId="478"/>
          <ac:spMkLst>
            <pc:docMk/>
            <pc:sldMk cId="0" sldId="261"/>
            <ac:spMk id="25" creationId="{00000000-0000-0000-0000-000000000000}"/>
          </ac:spMkLst>
        </pc:spChg>
        <pc:spChg chg="add del mod">
          <ac:chgData name="Bärtschi Jay (baertjay)" userId="619fb7ad-8857-432b-a8bc-ab88cee05735" providerId="ADAL" clId="{2C194D8F-255E-58AD-A156-8EFB0C1F17FF}" dt="2026-05-31T19:33:07.618" v="409" actId="1035"/>
          <ac:spMkLst>
            <pc:docMk/>
            <pc:sldMk cId="0" sldId="261"/>
            <ac:spMk id="26" creationId="{00000000-0000-0000-0000-000000000000}"/>
          </ac:spMkLst>
        </pc:spChg>
        <pc:spChg chg="del">
          <ac:chgData name="Bärtschi Jay (baertjay)" userId="619fb7ad-8857-432b-a8bc-ab88cee05735" providerId="ADAL" clId="{2C194D8F-255E-58AD-A156-8EFB0C1F17FF}" dt="2026-05-31T19:31:11.762" v="349" actId="478"/>
          <ac:spMkLst>
            <pc:docMk/>
            <pc:sldMk cId="0" sldId="261"/>
            <ac:spMk id="27" creationId="{00000000-0000-0000-0000-000000000000}"/>
          </ac:spMkLst>
        </pc:spChg>
        <pc:spChg chg="del">
          <ac:chgData name="Bärtschi Jay (baertjay)" userId="619fb7ad-8857-432b-a8bc-ab88cee05735" providerId="ADAL" clId="{2C194D8F-255E-58AD-A156-8EFB0C1F17FF}" dt="2026-05-31T19:31:24.690" v="354" actId="478"/>
          <ac:spMkLst>
            <pc:docMk/>
            <pc:sldMk cId="0" sldId="261"/>
            <ac:spMk id="28" creationId="{00000000-0000-0000-0000-000000000000}"/>
          </ac:spMkLst>
        </pc:spChg>
        <pc:spChg chg="mod">
          <ac:chgData name="Bärtschi Jay (baertjay)" userId="619fb7ad-8857-432b-a8bc-ab88cee05735" providerId="ADAL" clId="{2C194D8F-255E-58AD-A156-8EFB0C1F17FF}" dt="2026-05-31T19:31:17.072" v="351" actId="20577"/>
          <ac:spMkLst>
            <pc:docMk/>
            <pc:sldMk cId="0" sldId="261"/>
            <ac:spMk id="29" creationId="{00000000-0000-0000-0000-000000000000}"/>
          </ac:spMkLst>
        </pc:spChg>
        <pc:spChg chg="del mod">
          <ac:chgData name="Bärtschi Jay (baertjay)" userId="619fb7ad-8857-432b-a8bc-ab88cee05735" providerId="ADAL" clId="{2C194D8F-255E-58AD-A156-8EFB0C1F17FF}" dt="2026-05-31T19:31:22.539" v="353" actId="478"/>
          <ac:spMkLst>
            <pc:docMk/>
            <pc:sldMk cId="0" sldId="261"/>
            <ac:spMk id="3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1137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vdss-fs26-ds25a.github.io/ds25a-2-fancyprojec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7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10287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0" y="20574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45720" y="309232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45720" y="412102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320040" y="320040"/>
            <a:ext cx="8503920" cy="4503420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4572000" y="320040"/>
            <a:ext cx="0" cy="4503420"/>
          </a:xfrm>
          <a:prstGeom prst="line">
            <a:avLst/>
          </a:prstGeom>
          <a:noFill/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4069080" y="2068830"/>
            <a:ext cx="1005840" cy="1005840"/>
          </a:xfrm>
          <a:prstGeom prst="ellipse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4526280" y="2526030"/>
            <a:ext cx="91440" cy="91440"/>
          </a:xfrm>
          <a:prstGeom prst="ellipse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320040" y="1310792"/>
            <a:ext cx="1318108" cy="2521915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7505852" y="1310792"/>
            <a:ext cx="1318108" cy="2521915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Shape 11"/>
          <p:cNvSpPr/>
          <p:nvPr/>
        </p:nvSpPr>
        <p:spPr>
          <a:xfrm>
            <a:off x="320040" y="1986305"/>
            <a:ext cx="467716" cy="1170889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Shape 13"/>
          <p:cNvSpPr/>
          <p:nvPr/>
        </p:nvSpPr>
        <p:spPr>
          <a:xfrm>
            <a:off x="1371600" y="914400"/>
            <a:ext cx="6400800" cy="329184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Shape 12"/>
          <p:cNvSpPr/>
          <p:nvPr/>
        </p:nvSpPr>
        <p:spPr>
          <a:xfrm>
            <a:off x="8356244" y="1986305"/>
            <a:ext cx="467716" cy="1170889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Shape 14"/>
          <p:cNvSpPr/>
          <p:nvPr/>
        </p:nvSpPr>
        <p:spPr>
          <a:xfrm>
            <a:off x="1371600" y="914400"/>
            <a:ext cx="6400800" cy="54864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3845749" y="1108710"/>
            <a:ext cx="1452499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D4A83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ZHAW FS26 · VDSS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54480" y="141732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Das grosse Geld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554480" y="224028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D4A83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im Europäischen Fussball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1371600" y="4114800"/>
            <a:ext cx="6400800" cy="54864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28" name="Picture 27" descr="A blue and white logo&#10;&#10;AI-generated content may be incorrect.">
            <a:extLst>
              <a:ext uri="{FF2B5EF4-FFF2-40B4-BE49-F238E27FC236}">
                <a16:creationId xmlns:a16="http://schemas.microsoft.com/office/drawing/2014/main" id="{F9AA9F2C-EE9B-9EBD-71ED-B5A8A4711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171" y="2884003"/>
            <a:ext cx="723590" cy="319507"/>
          </a:xfrm>
          <a:prstGeom prst="rect">
            <a:avLst/>
          </a:prstGeom>
        </p:spPr>
      </p:pic>
      <p:sp>
        <p:nvSpPr>
          <p:cNvPr id="39" name="Shape 24">
            <a:extLst>
              <a:ext uri="{FF2B5EF4-FFF2-40B4-BE49-F238E27FC236}">
                <a16:creationId xmlns:a16="http://schemas.microsoft.com/office/drawing/2014/main" id="{1D6F416F-C102-9F65-C15F-56021B514A0A}"/>
              </a:ext>
            </a:extLst>
          </p:cNvPr>
          <p:cNvSpPr/>
          <p:nvPr/>
        </p:nvSpPr>
        <p:spPr>
          <a:xfrm>
            <a:off x="1531185" y="3321936"/>
            <a:ext cx="6055563" cy="69755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CH" dirty="0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70B4302D-63CD-D7B4-C85B-BF5CB25008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30612" y="3355727"/>
            <a:ext cx="588862" cy="588862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ED6CBFA2-68AC-FCD0-F184-AEC3E6B179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51825" y="3355727"/>
            <a:ext cx="588862" cy="588862"/>
          </a:xfrm>
          <a:prstGeom prst="rect">
            <a:avLst/>
          </a:prstGeom>
        </p:spPr>
      </p:pic>
      <p:sp>
        <p:nvSpPr>
          <p:cNvPr id="48" name="Shape 13">
            <a:extLst>
              <a:ext uri="{FF2B5EF4-FFF2-40B4-BE49-F238E27FC236}">
                <a16:creationId xmlns:a16="http://schemas.microsoft.com/office/drawing/2014/main" id="{381B6539-CF9F-E78F-E6CD-489D91C7CE05}"/>
              </a:ext>
            </a:extLst>
          </p:cNvPr>
          <p:cNvSpPr/>
          <p:nvPr/>
        </p:nvSpPr>
        <p:spPr>
          <a:xfrm>
            <a:off x="1371598" y="4339532"/>
            <a:ext cx="6400800" cy="255328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3B5FA2A9-67AB-D37B-810D-312585091F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31971" y="3351259"/>
            <a:ext cx="333825" cy="597798"/>
          </a:xfrm>
          <a:prstGeom prst="rect">
            <a:avLst/>
          </a:prstGeom>
        </p:spPr>
      </p:pic>
      <p:sp>
        <p:nvSpPr>
          <p:cNvPr id="25" name="Text 23"/>
          <p:cNvSpPr/>
          <p:nvPr/>
        </p:nvSpPr>
        <p:spPr>
          <a:xfrm>
            <a:off x="1554480" y="4339533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John Wiese, Noa Medved, Jay Bärtschi</a:t>
            </a:r>
            <a:endParaRPr lang="en-US" sz="1100" b="1" dirty="0">
              <a:solidFill>
                <a:schemeClr val="bg1"/>
              </a:solidFill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D857FB58-E796-517D-C193-0D41794F6A1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95051" y="3316107"/>
            <a:ext cx="403210" cy="668102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D7DD7772-6BE1-4F65-D15D-D9A88DB6C26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73038" y="3498194"/>
            <a:ext cx="726581" cy="3039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C7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10287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0" y="20574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0" y="30861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0" y="41148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320040" y="320040"/>
            <a:ext cx="8503920" cy="4503420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4572000" y="320040"/>
            <a:ext cx="0" cy="4503420"/>
          </a:xfrm>
          <a:prstGeom prst="line">
            <a:avLst/>
          </a:prstGeom>
          <a:noFill/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4069080" y="2068830"/>
            <a:ext cx="1005840" cy="1005840"/>
          </a:xfrm>
          <a:prstGeom prst="ellipse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4526280" y="2526030"/>
            <a:ext cx="91440" cy="91440"/>
          </a:xfrm>
          <a:prstGeom prst="ellipse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320040" y="1310792"/>
            <a:ext cx="1318108" cy="2521915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7505852" y="1310792"/>
            <a:ext cx="1318108" cy="2521915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Shape 11"/>
          <p:cNvSpPr/>
          <p:nvPr/>
        </p:nvSpPr>
        <p:spPr>
          <a:xfrm>
            <a:off x="320040" y="1986305"/>
            <a:ext cx="467716" cy="1170889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Shape 12"/>
          <p:cNvSpPr/>
          <p:nvPr/>
        </p:nvSpPr>
        <p:spPr>
          <a:xfrm>
            <a:off x="8356244" y="1986305"/>
            <a:ext cx="467716" cy="1170889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Shape 13"/>
          <p:cNvSpPr/>
          <p:nvPr/>
        </p:nvSpPr>
        <p:spPr>
          <a:xfrm>
            <a:off x="365760" y="320040"/>
            <a:ext cx="8412480" cy="448056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54864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7132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kern="0" spc="300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PROJEKTZIELE &amp; ERFOLGSKRITERIEN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2920" y="1325880"/>
            <a:ext cx="8138160" cy="9144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Shape 17"/>
          <p:cNvSpPr/>
          <p:nvPr/>
        </p:nvSpPr>
        <p:spPr>
          <a:xfrm>
            <a:off x="502920" y="1325880"/>
            <a:ext cx="8138160" cy="54864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594360" y="1435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83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Hauptziel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171907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150" dirty="0" err="1">
                <a:solidFill>
                  <a:srgbClr val="FFFFFF"/>
                </a:solidFill>
                <a:latin typeface="Barlow" pitchFamily="34" charset="0"/>
              </a:rPr>
              <a:t>Aufzeigen</a:t>
            </a:r>
            <a:r>
              <a:rPr lang="en-GB" sz="1150" dirty="0">
                <a:solidFill>
                  <a:srgbClr val="FFFFFF"/>
                </a:solidFill>
                <a:latin typeface="Barlow" pitchFamily="34" charset="0"/>
              </a:rPr>
              <a:t>, </a:t>
            </a:r>
            <a:r>
              <a:rPr lang="en-GB" sz="1150" dirty="0" err="1">
                <a:solidFill>
                  <a:srgbClr val="FFFFFF"/>
                </a:solidFill>
                <a:latin typeface="Barlow" pitchFamily="34" charset="0"/>
              </a:rPr>
              <a:t>wie</a:t>
            </a:r>
            <a:r>
              <a:rPr lang="en-GB" sz="1150" dirty="0">
                <a:solidFill>
                  <a:srgbClr val="FFFFFF"/>
                </a:solidFill>
                <a:latin typeface="Barlow" pitchFamily="34" charset="0"/>
              </a:rPr>
              <a:t> Geld den </a:t>
            </a:r>
            <a:r>
              <a:rPr lang="en-GB" sz="1150" dirty="0" err="1">
                <a:solidFill>
                  <a:srgbClr val="FFFFFF"/>
                </a:solidFill>
                <a:latin typeface="Barlow" pitchFamily="34" charset="0"/>
              </a:rPr>
              <a:t>modernen</a:t>
            </a:r>
            <a:r>
              <a:rPr lang="en-GB" sz="1150" dirty="0">
                <a:solidFill>
                  <a:srgbClr val="FFFFFF"/>
                </a:solidFill>
                <a:latin typeface="Barlow" pitchFamily="34" charset="0"/>
              </a:rPr>
              <a:t> </a:t>
            </a:r>
            <a:r>
              <a:rPr lang="en-GB" sz="1150" dirty="0" err="1">
                <a:solidFill>
                  <a:srgbClr val="FFFFFF"/>
                </a:solidFill>
                <a:latin typeface="Barlow" pitchFamily="34" charset="0"/>
              </a:rPr>
              <a:t>Fussball</a:t>
            </a:r>
            <a:r>
              <a:rPr lang="en-GB" sz="1150" dirty="0">
                <a:solidFill>
                  <a:srgbClr val="FFFFFF"/>
                </a:solidFill>
                <a:latin typeface="Barlow" pitchFamily="34" charset="0"/>
              </a:rPr>
              <a:t> </a:t>
            </a:r>
            <a:r>
              <a:rPr lang="en-GB" sz="1150" dirty="0" err="1">
                <a:solidFill>
                  <a:srgbClr val="FFFFFF"/>
                </a:solidFill>
                <a:latin typeface="Barlow" pitchFamily="34" charset="0"/>
              </a:rPr>
              <a:t>verändert</a:t>
            </a:r>
            <a:r>
              <a:rPr lang="en-GB" sz="1150" dirty="0">
                <a:solidFill>
                  <a:srgbClr val="FFFFFF"/>
                </a:solidFill>
                <a:latin typeface="Barlow" pitchFamily="34" charset="0"/>
              </a:rPr>
              <a:t> — </a:t>
            </a:r>
            <a:r>
              <a:rPr lang="en-GB" sz="1150" dirty="0" err="1">
                <a:solidFill>
                  <a:srgbClr val="FFFFFF"/>
                </a:solidFill>
                <a:latin typeface="Barlow" pitchFamily="34" charset="0"/>
              </a:rPr>
              <a:t>sichtbar</a:t>
            </a:r>
            <a:r>
              <a:rPr lang="en-GB" sz="1150" dirty="0">
                <a:solidFill>
                  <a:srgbClr val="FFFFFF"/>
                </a:solidFill>
                <a:latin typeface="Barlow" pitchFamily="34" charset="0"/>
              </a:rPr>
              <a:t> </a:t>
            </a:r>
            <a:r>
              <a:rPr lang="en-GB" sz="1150" dirty="0" err="1">
                <a:solidFill>
                  <a:srgbClr val="FFFFFF"/>
                </a:solidFill>
                <a:latin typeface="Barlow" pitchFamily="34" charset="0"/>
              </a:rPr>
              <a:t>gemacht</a:t>
            </a:r>
            <a:r>
              <a:rPr lang="en-GB" sz="1150" dirty="0">
                <a:solidFill>
                  <a:srgbClr val="FFFFFF"/>
                </a:solidFill>
                <a:latin typeface="Barlow" pitchFamily="34" charset="0"/>
              </a:rPr>
              <a:t> in 5 </a:t>
            </a:r>
            <a:r>
              <a:rPr lang="en-GB" sz="1150" dirty="0" err="1">
                <a:solidFill>
                  <a:srgbClr val="FFFFFF"/>
                </a:solidFill>
                <a:latin typeface="Barlow" pitchFamily="34" charset="0"/>
              </a:rPr>
              <a:t>Akten</a:t>
            </a:r>
            <a:r>
              <a:rPr lang="en-GB" sz="1150" dirty="0">
                <a:solidFill>
                  <a:srgbClr val="FFFFFF"/>
                </a:solidFill>
                <a:latin typeface="Barlow" pitchFamily="34" charset="0"/>
              </a:rPr>
              <a:t> </a:t>
            </a:r>
            <a:r>
              <a:rPr lang="en-US" sz="11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 </a:t>
            </a:r>
            <a:r>
              <a:rPr lang="en-US" sz="1150" dirty="0" err="1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einem</a:t>
            </a:r>
            <a:r>
              <a:rPr lang="en-US" sz="11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scrollbares</a:t>
            </a:r>
            <a:r>
              <a:rPr lang="en-US" sz="11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Narrativ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2377440"/>
            <a:ext cx="3931920" cy="242316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Shape 21"/>
          <p:cNvSpPr/>
          <p:nvPr/>
        </p:nvSpPr>
        <p:spPr>
          <a:xfrm>
            <a:off x="502920" y="2377440"/>
            <a:ext cx="3931920" cy="54864"/>
          </a:xfrm>
          <a:prstGeom prst="rect">
            <a:avLst/>
          </a:prstGeom>
          <a:solidFill>
            <a:srgbClr val="01F5FF"/>
          </a:solidFill>
          <a:ln w="12700">
            <a:solidFill>
              <a:srgbClr val="01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594360" y="24871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F5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Thematische Schwerpunkte</a:t>
            </a:r>
            <a:endParaRPr lang="en-US" sz="1300" dirty="0">
              <a:solidFill>
                <a:srgbClr val="01F5FF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94360" y="3008376"/>
            <a:ext cx="100584" cy="100584"/>
          </a:xfrm>
          <a:prstGeom prst="ellipse">
            <a:avLst/>
          </a:prstGeom>
          <a:solidFill>
            <a:srgbClr val="01F5FF"/>
          </a:solidFill>
          <a:ln w="12700">
            <a:solidFill>
              <a:srgbClr val="01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/>
          <p:nvPr/>
        </p:nvSpPr>
        <p:spPr>
          <a:xfrm>
            <a:off x="777240" y="2858643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Transfermarkt-Entwicklung 2010–2024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4360" y="3465576"/>
            <a:ext cx="100584" cy="100584"/>
          </a:xfrm>
          <a:prstGeom prst="ellipse">
            <a:avLst/>
          </a:prstGeom>
          <a:solidFill>
            <a:srgbClr val="01F5FF"/>
          </a:solidFill>
          <a:ln w="12700">
            <a:solidFill>
              <a:srgbClr val="01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777240" y="3315843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Kapitalkonzentration der Topklubs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3922776"/>
            <a:ext cx="100584" cy="100584"/>
          </a:xfrm>
          <a:prstGeom prst="ellipse">
            <a:avLst/>
          </a:prstGeom>
          <a:solidFill>
            <a:srgbClr val="01F5FF"/>
          </a:solidFill>
          <a:ln w="12700">
            <a:solidFill>
              <a:srgbClr val="01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/>
          <p:nvPr/>
        </p:nvSpPr>
        <p:spPr>
          <a:xfrm>
            <a:off x="777240" y="376504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Geldflüsse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4360" y="4379976"/>
            <a:ext cx="100584" cy="100584"/>
          </a:xfrm>
          <a:prstGeom prst="ellipse">
            <a:avLst/>
          </a:prstGeom>
          <a:solidFill>
            <a:srgbClr val="01F5FF"/>
          </a:solidFill>
          <a:ln w="12700">
            <a:solidFill>
              <a:srgbClr val="01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777240" y="424738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Korrelation</a:t>
            </a:r>
            <a:r>
              <a:rPr lang="en-US" sz="10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Wert &amp; </a:t>
            </a:r>
            <a:r>
              <a:rPr lang="en-US" sz="1050" dirty="0" err="1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Erfolg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17720" y="2377440"/>
            <a:ext cx="3977640" cy="242316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Shape 32"/>
          <p:cNvSpPr/>
          <p:nvPr/>
        </p:nvSpPr>
        <p:spPr>
          <a:xfrm>
            <a:off x="4617720" y="2377440"/>
            <a:ext cx="3977640" cy="54864"/>
          </a:xfrm>
          <a:prstGeom prst="rect">
            <a:avLst/>
          </a:prstGeom>
          <a:solidFill>
            <a:srgbClr val="EA0052"/>
          </a:solidFill>
          <a:ln w="12700">
            <a:solidFill>
              <a:srgbClr val="EA0052"/>
            </a:solidFill>
            <a:prstDash val="solid"/>
          </a:ln>
        </p:spPr>
        <p:txBody>
          <a:bodyPr/>
          <a:lstStyle/>
          <a:p>
            <a:endParaRPr lang="en-CH">
              <a:solidFill>
                <a:srgbClr val="EA0052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4709160" y="24871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005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Erfolgskriterien</a:t>
            </a:r>
            <a:endParaRPr lang="en-US" sz="1300" dirty="0">
              <a:solidFill>
                <a:srgbClr val="EA0052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4901184" y="286435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Dashboard öffentlich auf GitHub Pages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4901184" y="332613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 </a:t>
            </a:r>
            <a:r>
              <a:rPr lang="en-US" sz="1050" dirty="0" err="1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Akte</a:t>
            </a:r>
            <a:r>
              <a:rPr lang="en-US" sz="105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mit</a:t>
            </a:r>
            <a:r>
              <a:rPr lang="en-US" sz="105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verschiedenen</a:t>
            </a:r>
            <a:r>
              <a:rPr lang="en-US" sz="105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Visualisierungen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4892040" y="3798417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Reproduzierbarer Code (uv + Quarto)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4800600" y="445312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4" name="Shape 23">
            <a:extLst>
              <a:ext uri="{FF2B5EF4-FFF2-40B4-BE49-F238E27FC236}">
                <a16:creationId xmlns:a16="http://schemas.microsoft.com/office/drawing/2014/main" id="{10421EC5-85A1-09C1-3B01-E87BC8102CF3}"/>
              </a:ext>
            </a:extLst>
          </p:cNvPr>
          <p:cNvSpPr/>
          <p:nvPr/>
        </p:nvSpPr>
        <p:spPr>
          <a:xfrm>
            <a:off x="4704588" y="3008376"/>
            <a:ext cx="100584" cy="100584"/>
          </a:xfrm>
          <a:prstGeom prst="ellipse">
            <a:avLst/>
          </a:prstGeom>
          <a:solidFill>
            <a:srgbClr val="EA0052"/>
          </a:solidFill>
          <a:ln w="12700">
            <a:solidFill>
              <a:srgbClr val="EA0052"/>
            </a:solidFill>
            <a:prstDash val="solid"/>
          </a:ln>
        </p:spPr>
        <p:txBody>
          <a:bodyPr/>
          <a:lstStyle/>
          <a:p>
            <a:endParaRPr lang="en-CH">
              <a:solidFill>
                <a:srgbClr val="EA0052"/>
              </a:solidFill>
            </a:endParaRPr>
          </a:p>
        </p:txBody>
      </p:sp>
      <p:sp>
        <p:nvSpPr>
          <p:cNvPr id="45" name="Shape 25">
            <a:extLst>
              <a:ext uri="{FF2B5EF4-FFF2-40B4-BE49-F238E27FC236}">
                <a16:creationId xmlns:a16="http://schemas.microsoft.com/office/drawing/2014/main" id="{3D014F42-B47E-D4DF-7960-A5BA9797A76A}"/>
              </a:ext>
            </a:extLst>
          </p:cNvPr>
          <p:cNvSpPr/>
          <p:nvPr/>
        </p:nvSpPr>
        <p:spPr>
          <a:xfrm>
            <a:off x="4704588" y="3465576"/>
            <a:ext cx="100584" cy="100584"/>
          </a:xfrm>
          <a:prstGeom prst="ellipse">
            <a:avLst/>
          </a:prstGeom>
          <a:solidFill>
            <a:srgbClr val="EA0052"/>
          </a:solidFill>
          <a:ln w="12700">
            <a:solidFill>
              <a:srgbClr val="EA0052"/>
            </a:solidFill>
            <a:prstDash val="solid"/>
          </a:ln>
        </p:spPr>
        <p:txBody>
          <a:bodyPr/>
          <a:lstStyle/>
          <a:p>
            <a:endParaRPr lang="en-CH">
              <a:solidFill>
                <a:srgbClr val="EA0052"/>
              </a:solidFill>
            </a:endParaRPr>
          </a:p>
        </p:txBody>
      </p:sp>
      <p:sp>
        <p:nvSpPr>
          <p:cNvPr id="46" name="Shape 27">
            <a:extLst>
              <a:ext uri="{FF2B5EF4-FFF2-40B4-BE49-F238E27FC236}">
                <a16:creationId xmlns:a16="http://schemas.microsoft.com/office/drawing/2014/main" id="{9005AE4C-3FF0-95F0-FCE6-68E9CE4CAC91}"/>
              </a:ext>
            </a:extLst>
          </p:cNvPr>
          <p:cNvSpPr/>
          <p:nvPr/>
        </p:nvSpPr>
        <p:spPr>
          <a:xfrm>
            <a:off x="4704588" y="3922776"/>
            <a:ext cx="100584" cy="100584"/>
          </a:xfrm>
          <a:prstGeom prst="ellipse">
            <a:avLst/>
          </a:prstGeom>
          <a:solidFill>
            <a:srgbClr val="EA0052"/>
          </a:solidFill>
          <a:ln w="12700">
            <a:solidFill>
              <a:srgbClr val="EA0052"/>
            </a:solidFill>
            <a:prstDash val="solid"/>
          </a:ln>
        </p:spPr>
        <p:txBody>
          <a:bodyPr/>
          <a:lstStyle/>
          <a:p>
            <a:endParaRPr lang="en-CH">
              <a:solidFill>
                <a:srgbClr val="EA005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C7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10287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0" y="20574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0" y="30861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0" y="41148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320040" y="320040"/>
            <a:ext cx="8503920" cy="4503420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4572000" y="320040"/>
            <a:ext cx="0" cy="4503420"/>
          </a:xfrm>
          <a:prstGeom prst="line">
            <a:avLst/>
          </a:prstGeom>
          <a:noFill/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4069080" y="2068830"/>
            <a:ext cx="1005840" cy="1005840"/>
          </a:xfrm>
          <a:prstGeom prst="ellipse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4526280" y="2526030"/>
            <a:ext cx="91440" cy="91440"/>
          </a:xfrm>
          <a:prstGeom prst="ellipse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320040" y="1310792"/>
            <a:ext cx="1318108" cy="2521915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7505852" y="1310792"/>
            <a:ext cx="1318108" cy="2521915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Shape 11"/>
          <p:cNvSpPr/>
          <p:nvPr/>
        </p:nvSpPr>
        <p:spPr>
          <a:xfrm>
            <a:off x="320040" y="1986305"/>
            <a:ext cx="467716" cy="1170889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Shape 12"/>
          <p:cNvSpPr/>
          <p:nvPr/>
        </p:nvSpPr>
        <p:spPr>
          <a:xfrm>
            <a:off x="8356244" y="1986305"/>
            <a:ext cx="467716" cy="1170889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Shape 13"/>
          <p:cNvSpPr/>
          <p:nvPr/>
        </p:nvSpPr>
        <p:spPr>
          <a:xfrm>
            <a:off x="365760" y="320040"/>
            <a:ext cx="8412480" cy="448056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54864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7132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ZIELGRUPPE / PERSONAS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502920" y="1371600"/>
            <a:ext cx="3977640" cy="33147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 dirty="0"/>
          </a:p>
        </p:txBody>
      </p:sp>
      <p:sp>
        <p:nvSpPr>
          <p:cNvPr id="19" name="Shape 17"/>
          <p:cNvSpPr/>
          <p:nvPr/>
        </p:nvSpPr>
        <p:spPr>
          <a:xfrm>
            <a:off x="502920" y="1371600"/>
            <a:ext cx="3977640" cy="54864"/>
          </a:xfrm>
          <a:prstGeom prst="rect">
            <a:avLst/>
          </a:prstGeom>
          <a:solidFill>
            <a:srgbClr val="01F5FF"/>
          </a:solidFill>
          <a:ln w="12700">
            <a:solidFill>
              <a:srgbClr val="01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Shape 18"/>
          <p:cNvSpPr/>
          <p:nvPr/>
        </p:nvSpPr>
        <p:spPr>
          <a:xfrm>
            <a:off x="502920" y="1371600"/>
            <a:ext cx="54864" cy="3314700"/>
          </a:xfrm>
          <a:prstGeom prst="rect">
            <a:avLst/>
          </a:prstGeom>
          <a:solidFill>
            <a:srgbClr val="04F5FF"/>
          </a:solidFill>
          <a:ln w="12700">
            <a:solidFill>
              <a:srgbClr val="04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/>
          <p:nvPr/>
        </p:nvSpPr>
        <p:spPr>
          <a:xfrm>
            <a:off x="640080" y="14813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F5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Lukas Brenner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184708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Data Analyst, 28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2157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Bern · </a:t>
            </a:r>
            <a:r>
              <a:rPr lang="en-US" sz="1000" dirty="0" err="1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analytisch</a:t>
            </a:r>
            <a:r>
              <a:rPr lang="en-US" sz="1000" dirty="0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</a:t>
            </a:r>
            <a:r>
              <a:rPr lang="en-US" sz="1000" dirty="0" err="1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technikaffin</a:t>
            </a:r>
            <a:r>
              <a:rPr lang="en-US" sz="1000" dirty="0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</a:t>
            </a:r>
            <a:r>
              <a:rPr lang="en-US" sz="1000" dirty="0" err="1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intrinsisch</a:t>
            </a:r>
            <a:r>
              <a:rPr lang="en-US" sz="1000" dirty="0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motiviert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2609487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F5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Profil</a:t>
            </a:r>
            <a:endParaRPr lang="en-US" sz="1000" dirty="0">
              <a:solidFill>
                <a:srgbClr val="01F5FF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0080" y="286365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Verfolgt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europäischen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Fussball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leidenschaftlich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analysiert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Transferdaten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in der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Freizeit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nutzt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mehrere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Datenquellen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gleichzeitig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programmiert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(Python, R)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347142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F5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Was er </a:t>
            </a:r>
            <a:r>
              <a:rPr lang="en-US" sz="1000" b="1" dirty="0" err="1">
                <a:solidFill>
                  <a:srgbClr val="01F5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erwartet</a:t>
            </a:r>
            <a:endParaRPr lang="en-US" sz="1000" dirty="0">
              <a:solidFill>
                <a:srgbClr val="01F5FF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" y="373075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Transferausgaben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&amp;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Marktwertentwicklungen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detailliert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analysieren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Ligen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&amp; Clubs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über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Saisons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vergleichen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wirtschaftliche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Muster &amp;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Anomalien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identifizieren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371600"/>
            <a:ext cx="3977640" cy="33147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 dirty="0"/>
          </a:p>
        </p:txBody>
      </p:sp>
      <p:sp>
        <p:nvSpPr>
          <p:cNvPr id="30" name="Shape 28"/>
          <p:cNvSpPr/>
          <p:nvPr/>
        </p:nvSpPr>
        <p:spPr>
          <a:xfrm>
            <a:off x="4754880" y="1371600"/>
            <a:ext cx="3977640" cy="54864"/>
          </a:xfrm>
          <a:prstGeom prst="rect">
            <a:avLst/>
          </a:prstGeom>
          <a:solidFill>
            <a:srgbClr val="EA0052"/>
          </a:solidFill>
          <a:ln w="12700">
            <a:solidFill>
              <a:srgbClr val="EA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1" name="Shape 29"/>
          <p:cNvSpPr/>
          <p:nvPr/>
        </p:nvSpPr>
        <p:spPr>
          <a:xfrm>
            <a:off x="4754880" y="1371600"/>
            <a:ext cx="54864" cy="3314700"/>
          </a:xfrm>
          <a:prstGeom prst="rect">
            <a:avLst/>
          </a:prstGeom>
          <a:solidFill>
            <a:srgbClr val="EA0052"/>
          </a:solidFill>
          <a:ln w="12700">
            <a:solidFill>
              <a:srgbClr val="EA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4892040" y="14813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EA005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Miriam Keller</a:t>
            </a:r>
            <a:endParaRPr lang="en-US" sz="1500" dirty="0">
              <a:solidFill>
                <a:srgbClr val="EA0052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92040" y="184708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Lehrerin</a:t>
            </a:r>
            <a:r>
              <a:rPr lang="en-US" sz="13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, 34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92040" y="2157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Zürich · </a:t>
            </a:r>
            <a:r>
              <a:rPr lang="en-US" sz="1000" dirty="0" err="1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Fussballfan</a:t>
            </a:r>
            <a:r>
              <a:rPr lang="en-US" sz="1000" dirty="0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</a:t>
            </a:r>
            <a:r>
              <a:rPr lang="en-US" sz="1000" dirty="0" err="1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wenig</a:t>
            </a:r>
            <a:r>
              <a:rPr lang="en-US" sz="1000" dirty="0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technikaffin</a:t>
            </a:r>
            <a:r>
              <a:rPr lang="en-US" sz="1000" dirty="0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</a:t>
            </a:r>
            <a:r>
              <a:rPr lang="en-US" sz="1000" dirty="0" err="1">
                <a:solidFill>
                  <a:srgbClr val="AAA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lernbereit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2609487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005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Profil</a:t>
            </a:r>
            <a:endParaRPr lang="en-US" sz="1000" dirty="0">
              <a:solidFill>
                <a:srgbClr val="EA0052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4892040" y="281635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Leidenschaftliche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Fussballfan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verfolgt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Bundesliga &amp; Champions League ·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interessiert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Transferentscheidungen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ihres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Lieblingsclubs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wenig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Erfahrung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mit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Finanzdaten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347142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005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Was </a:t>
            </a:r>
            <a:r>
              <a:rPr lang="en-US" sz="1000" b="1" dirty="0" err="1">
                <a:solidFill>
                  <a:srgbClr val="EA005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sie</a:t>
            </a:r>
            <a:r>
              <a:rPr lang="en-US" sz="1000" b="1" dirty="0">
                <a:solidFill>
                  <a:srgbClr val="EA005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</a:t>
            </a:r>
            <a:r>
              <a:rPr lang="en-US" sz="1000" b="1" dirty="0" err="1">
                <a:solidFill>
                  <a:srgbClr val="EA005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erwartet</a:t>
            </a:r>
            <a:endParaRPr lang="en-US" sz="1000" dirty="0">
              <a:solidFill>
                <a:srgbClr val="EA0052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4892040" y="3785933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Transferaktivitäten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des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Lieblingsclubs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nachvollziehen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Transfersummen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&amp;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Marktwerte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anschaulich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verstehen ·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einfache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Navigation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ohne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Fachjargon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ansprechendes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r>
              <a:rPr lang="en-US" sz="1000" dirty="0" err="1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übersichtliches</a:t>
            </a:r>
            <a:r>
              <a:rPr lang="en-US" sz="1000" dirty="0">
                <a:solidFill>
                  <a:srgbClr val="DDDD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Design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40" name="Shape 28">
            <a:extLst>
              <a:ext uri="{FF2B5EF4-FFF2-40B4-BE49-F238E27FC236}">
                <a16:creationId xmlns:a16="http://schemas.microsoft.com/office/drawing/2014/main" id="{23BB3AC2-C532-D59B-FD60-9708577B3E69}"/>
              </a:ext>
            </a:extLst>
          </p:cNvPr>
          <p:cNvSpPr/>
          <p:nvPr/>
        </p:nvSpPr>
        <p:spPr>
          <a:xfrm>
            <a:off x="4892040" y="2451621"/>
            <a:ext cx="3794760" cy="3600"/>
          </a:xfrm>
          <a:prstGeom prst="rect">
            <a:avLst/>
          </a:prstGeom>
          <a:solidFill>
            <a:srgbClr val="EA0052"/>
          </a:solidFill>
          <a:ln w="12700">
            <a:solidFill>
              <a:srgbClr val="EA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1" name="Shape 28">
            <a:extLst>
              <a:ext uri="{FF2B5EF4-FFF2-40B4-BE49-F238E27FC236}">
                <a16:creationId xmlns:a16="http://schemas.microsoft.com/office/drawing/2014/main" id="{1289B31E-431C-0AE7-1ED2-B023DD331CA1}"/>
              </a:ext>
            </a:extLst>
          </p:cNvPr>
          <p:cNvSpPr/>
          <p:nvPr/>
        </p:nvSpPr>
        <p:spPr>
          <a:xfrm>
            <a:off x="640080" y="2452803"/>
            <a:ext cx="3794760" cy="3600"/>
          </a:xfrm>
          <a:prstGeom prst="rect">
            <a:avLst/>
          </a:prstGeom>
          <a:solidFill>
            <a:srgbClr val="01F5FF"/>
          </a:solidFill>
          <a:ln w="12700">
            <a:solidFill>
              <a:srgbClr val="01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C7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10287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0" y="20574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0" y="30861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0" y="41148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320040" y="320040"/>
            <a:ext cx="8503920" cy="4503420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4572000" y="320040"/>
            <a:ext cx="0" cy="4503420"/>
          </a:xfrm>
          <a:prstGeom prst="line">
            <a:avLst/>
          </a:prstGeom>
          <a:noFill/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4069080" y="2068830"/>
            <a:ext cx="1005840" cy="1005840"/>
          </a:xfrm>
          <a:prstGeom prst="ellipse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4526280" y="2526030"/>
            <a:ext cx="91440" cy="91440"/>
          </a:xfrm>
          <a:prstGeom prst="ellipse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320040" y="1310792"/>
            <a:ext cx="1318108" cy="2521915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7505852" y="1310792"/>
            <a:ext cx="1318108" cy="2521915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Shape 11"/>
          <p:cNvSpPr/>
          <p:nvPr/>
        </p:nvSpPr>
        <p:spPr>
          <a:xfrm>
            <a:off x="320040" y="1986305"/>
            <a:ext cx="467716" cy="1170889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Shape 12"/>
          <p:cNvSpPr/>
          <p:nvPr/>
        </p:nvSpPr>
        <p:spPr>
          <a:xfrm>
            <a:off x="8356244" y="1986305"/>
            <a:ext cx="467716" cy="1170889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Shape 13"/>
          <p:cNvSpPr/>
          <p:nvPr/>
        </p:nvSpPr>
        <p:spPr>
          <a:xfrm>
            <a:off x="365760" y="320040"/>
            <a:ext cx="8412480" cy="448056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54864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7132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kern="0" spc="300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DATEN &amp; METHODIK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2920" y="1371600"/>
            <a:ext cx="1874520" cy="13716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Shape 17"/>
          <p:cNvSpPr/>
          <p:nvPr/>
        </p:nvSpPr>
        <p:spPr>
          <a:xfrm>
            <a:off x="502920" y="1371600"/>
            <a:ext cx="1874520" cy="54864"/>
          </a:xfrm>
          <a:prstGeom prst="rect">
            <a:avLst/>
          </a:prstGeom>
          <a:solidFill>
            <a:srgbClr val="04F5FF"/>
          </a:solidFill>
          <a:ln w="12700">
            <a:solidFill>
              <a:srgbClr val="04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548640" y="15087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F5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10'852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" y="21031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Transfers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mit Ablöse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06040" y="1371600"/>
            <a:ext cx="1874520" cy="13716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Shape 21"/>
          <p:cNvSpPr/>
          <p:nvPr/>
        </p:nvSpPr>
        <p:spPr>
          <a:xfrm>
            <a:off x="2606040" y="1371600"/>
            <a:ext cx="1874520" cy="54864"/>
          </a:xfrm>
          <a:prstGeom prst="rect">
            <a:avLst/>
          </a:prstGeom>
          <a:solidFill>
            <a:srgbClr val="01F5FF"/>
          </a:solidFill>
          <a:ln w="12700">
            <a:solidFill>
              <a:srgbClr val="01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2651760" y="15087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1F5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€43.6 Mrd.</a:t>
            </a:r>
            <a:endParaRPr lang="en-US" sz="1800" dirty="0">
              <a:solidFill>
                <a:srgbClr val="01F5FF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2651760" y="21031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Transfer-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volumen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1371600"/>
            <a:ext cx="1874520" cy="13716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Shape 25"/>
          <p:cNvSpPr/>
          <p:nvPr/>
        </p:nvSpPr>
        <p:spPr>
          <a:xfrm>
            <a:off x="4709160" y="1371600"/>
            <a:ext cx="1874520" cy="54864"/>
          </a:xfrm>
          <a:prstGeom prst="rect">
            <a:avLst/>
          </a:prstGeom>
          <a:solidFill>
            <a:srgbClr val="01F5FF"/>
          </a:solidFill>
          <a:ln w="12700">
            <a:solidFill>
              <a:srgbClr val="01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4754880" y="15087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1F5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2010–2025</a:t>
            </a:r>
            <a:endParaRPr lang="en-US" sz="1800" dirty="0">
              <a:solidFill>
                <a:srgbClr val="01F5FF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4754880" y="21031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Analyse-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zeitraum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12280" y="1371600"/>
            <a:ext cx="1874520" cy="13716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1" name="Shape 29"/>
          <p:cNvSpPr/>
          <p:nvPr/>
        </p:nvSpPr>
        <p:spPr>
          <a:xfrm>
            <a:off x="6812280" y="1371600"/>
            <a:ext cx="1874520" cy="54864"/>
          </a:xfrm>
          <a:prstGeom prst="rect">
            <a:avLst/>
          </a:prstGeom>
          <a:solidFill>
            <a:srgbClr val="01F5FF"/>
          </a:solidFill>
          <a:ln w="12700">
            <a:solidFill>
              <a:srgbClr val="01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6858000" y="15087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1F5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 Ligen</a:t>
            </a:r>
            <a:endParaRPr lang="en-US" sz="1800" dirty="0">
              <a:solidFill>
                <a:srgbClr val="01F5FF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6858000" y="21031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Top-Europa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4531" y="2926080"/>
            <a:ext cx="8229600" cy="173736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5" name="Shape 33"/>
          <p:cNvSpPr/>
          <p:nvPr/>
        </p:nvSpPr>
        <p:spPr>
          <a:xfrm>
            <a:off x="494531" y="2926080"/>
            <a:ext cx="8229600" cy="54864"/>
          </a:xfrm>
          <a:prstGeom prst="rect">
            <a:avLst/>
          </a:prstGeom>
          <a:solidFill>
            <a:srgbClr val="EA0052"/>
          </a:solidFill>
          <a:ln w="12700">
            <a:solidFill>
              <a:srgbClr val="EA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6" name="Text 34"/>
          <p:cNvSpPr/>
          <p:nvPr/>
        </p:nvSpPr>
        <p:spPr>
          <a:xfrm>
            <a:off x="594360" y="3017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Datenpipeline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89746" y="3383280"/>
            <a:ext cx="1371600" cy="100584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EA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/>
          <p:nvPr/>
        </p:nvSpPr>
        <p:spPr>
          <a:xfrm>
            <a:off x="635466" y="3429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005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Scraper</a:t>
            </a:r>
            <a:endParaRPr lang="en-US" sz="1100" dirty="0">
              <a:solidFill>
                <a:srgbClr val="EA0052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635466" y="3794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Transfermarkt.de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(dcaribou)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961346" y="3886200"/>
            <a:ext cx="27432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1" name="Shape 39"/>
          <p:cNvSpPr/>
          <p:nvPr/>
        </p:nvSpPr>
        <p:spPr>
          <a:xfrm>
            <a:off x="2235666" y="3383280"/>
            <a:ext cx="1371600" cy="100584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EA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2" name="Text 40"/>
          <p:cNvSpPr/>
          <p:nvPr/>
        </p:nvSpPr>
        <p:spPr>
          <a:xfrm>
            <a:off x="2281386" y="3429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005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Pandas</a:t>
            </a:r>
            <a:endParaRPr lang="en-US" sz="1100" dirty="0">
              <a:solidFill>
                <a:srgbClr val="EA0052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2281386" y="3794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Bereinigung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&amp; Aggregation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07266" y="3886200"/>
            <a:ext cx="27432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5" name="Shape 43"/>
          <p:cNvSpPr/>
          <p:nvPr/>
        </p:nvSpPr>
        <p:spPr>
          <a:xfrm>
            <a:off x="3881586" y="3383280"/>
            <a:ext cx="1371600" cy="100584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EA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6" name="Text 44"/>
          <p:cNvSpPr/>
          <p:nvPr/>
        </p:nvSpPr>
        <p:spPr>
          <a:xfrm>
            <a:off x="3927306" y="3429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005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Plotly</a:t>
            </a:r>
            <a:endParaRPr lang="en-US" sz="1100" dirty="0">
              <a:solidFill>
                <a:srgbClr val="EA0052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3927306" y="3794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Interaktive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Visualisierungen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253186" y="3886200"/>
            <a:ext cx="27432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9" name="Shape 47"/>
          <p:cNvSpPr/>
          <p:nvPr/>
        </p:nvSpPr>
        <p:spPr>
          <a:xfrm>
            <a:off x="5527506" y="3383280"/>
            <a:ext cx="1371600" cy="100584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EA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0" name="Text 48"/>
          <p:cNvSpPr/>
          <p:nvPr/>
        </p:nvSpPr>
        <p:spPr>
          <a:xfrm>
            <a:off x="5573226" y="3429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005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Quarto</a:t>
            </a:r>
            <a:endParaRPr lang="en-US" sz="1100" dirty="0">
              <a:solidFill>
                <a:srgbClr val="EA0052"/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5573226" y="3794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Dashboard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&amp; Dokumentation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899106" y="3886200"/>
            <a:ext cx="27432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3" name="Shape 51"/>
          <p:cNvSpPr/>
          <p:nvPr/>
        </p:nvSpPr>
        <p:spPr>
          <a:xfrm>
            <a:off x="7173426" y="3383280"/>
            <a:ext cx="1371600" cy="100584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EA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4" name="Text 52"/>
          <p:cNvSpPr/>
          <p:nvPr/>
        </p:nvSpPr>
        <p:spPr>
          <a:xfrm>
            <a:off x="7219146" y="3429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005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GitHub</a:t>
            </a:r>
            <a:endParaRPr lang="en-US" sz="1100" dirty="0">
              <a:solidFill>
                <a:srgbClr val="EA0052"/>
              </a:solidFill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EA005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Pages</a:t>
            </a:r>
            <a:endParaRPr lang="en-US" sz="1100" dirty="0">
              <a:solidFill>
                <a:srgbClr val="EA0052"/>
              </a:solidFill>
            </a:endParaRPr>
          </a:p>
        </p:txBody>
      </p:sp>
      <p:sp>
        <p:nvSpPr>
          <p:cNvPr id="55" name="Text 53"/>
          <p:cNvSpPr/>
          <p:nvPr/>
        </p:nvSpPr>
        <p:spPr>
          <a:xfrm>
            <a:off x="7219146" y="3794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Deployment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&amp; Publikation</a:t>
            </a:r>
            <a:endParaRPr lang="en-US" sz="900" dirty="0"/>
          </a:p>
        </p:txBody>
      </p:sp>
      <p:sp>
        <p:nvSpPr>
          <p:cNvPr id="56" name="Shape 17">
            <a:extLst>
              <a:ext uri="{FF2B5EF4-FFF2-40B4-BE49-F238E27FC236}">
                <a16:creationId xmlns:a16="http://schemas.microsoft.com/office/drawing/2014/main" id="{925148B3-1CCE-9744-EA3D-5AAE89A2BD20}"/>
              </a:ext>
            </a:extLst>
          </p:cNvPr>
          <p:cNvSpPr/>
          <p:nvPr/>
        </p:nvSpPr>
        <p:spPr>
          <a:xfrm>
            <a:off x="502920" y="1161288"/>
            <a:ext cx="8138160" cy="54864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C7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10287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0" y="20574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0" y="30861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0" y="41148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320040" y="320040"/>
            <a:ext cx="8503920" cy="4503420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4572000" y="320040"/>
            <a:ext cx="0" cy="4503420"/>
          </a:xfrm>
          <a:prstGeom prst="line">
            <a:avLst/>
          </a:prstGeom>
          <a:noFill/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4023738" y="1895019"/>
            <a:ext cx="1005840" cy="1005840"/>
          </a:xfrm>
          <a:prstGeom prst="ellipse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4480938" y="2352219"/>
            <a:ext cx="91440" cy="91440"/>
          </a:xfrm>
          <a:prstGeom prst="ellipse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320040" y="1310792"/>
            <a:ext cx="1318108" cy="2521915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7505852" y="1310792"/>
            <a:ext cx="1318108" cy="2521915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Shape 11"/>
          <p:cNvSpPr/>
          <p:nvPr/>
        </p:nvSpPr>
        <p:spPr>
          <a:xfrm>
            <a:off x="320040" y="1986305"/>
            <a:ext cx="467716" cy="1170889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Shape 12"/>
          <p:cNvSpPr/>
          <p:nvPr/>
        </p:nvSpPr>
        <p:spPr>
          <a:xfrm>
            <a:off x="8356244" y="1986305"/>
            <a:ext cx="467716" cy="1170889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Shape 13"/>
          <p:cNvSpPr/>
          <p:nvPr/>
        </p:nvSpPr>
        <p:spPr>
          <a:xfrm>
            <a:off x="365760" y="320040"/>
            <a:ext cx="8412480" cy="448056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548640" y="654509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kern="0" spc="300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VISUALISIERUNGSSTRATEGIE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578" y="1179501"/>
            <a:ext cx="8229600" cy="658368"/>
          </a:xfrm>
          <a:prstGeom prst="rect">
            <a:avLst/>
          </a:prstGeom>
          <a:solidFill>
            <a:srgbClr val="000000">
              <a:alpha val="4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Shape 17"/>
          <p:cNvSpPr/>
          <p:nvPr/>
        </p:nvSpPr>
        <p:spPr>
          <a:xfrm>
            <a:off x="457578" y="1179501"/>
            <a:ext cx="502920" cy="658368"/>
          </a:xfrm>
          <a:prstGeom prst="rect">
            <a:avLst/>
          </a:prstGeom>
          <a:solidFill>
            <a:srgbClr val="04F5FF"/>
          </a:solidFill>
          <a:ln w="12700">
            <a:solidFill>
              <a:srgbClr val="04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457578" y="1344093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0000"/>
                </a:solidFill>
                <a:latin typeface="Oswald" pitchFamily="34" charset="0"/>
              </a:rPr>
              <a:t>2 Plots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51938" y="1234365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Marktwert-Entwicklung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938" y="1526973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04F5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Barplot</a:t>
            </a:r>
            <a:r>
              <a:rPr lang="en-US" sz="1000" dirty="0">
                <a:solidFill>
                  <a:srgbClr val="04F5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r>
              <a:rPr lang="en-US" sz="1000" dirty="0" err="1">
                <a:solidFill>
                  <a:srgbClr val="04F5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Treemap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5098" y="1289229"/>
            <a:ext cx="0" cy="438912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3612258" y="1234365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Trend über Zeit sichtbar · </a:t>
            </a:r>
            <a:r>
              <a:rPr lang="en-US" sz="950" dirty="0" err="1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mehrere</a:t>
            </a:r>
            <a:r>
              <a:rPr lang="en-US" sz="95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950" dirty="0" err="1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Ligen</a:t>
            </a:r>
            <a:r>
              <a:rPr lang="en-US" sz="95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direkt </a:t>
            </a:r>
            <a:r>
              <a:rPr lang="en-US" sz="950" dirty="0" err="1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vergleichbar</a:t>
            </a:r>
            <a:r>
              <a:rPr lang="en-US" sz="95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578" y="1901877"/>
            <a:ext cx="8229600" cy="658368"/>
          </a:xfrm>
          <a:prstGeom prst="rect">
            <a:avLst/>
          </a:prstGeom>
          <a:solidFill>
            <a:srgbClr val="000000">
              <a:alpha val="4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Shape 24"/>
          <p:cNvSpPr/>
          <p:nvPr/>
        </p:nvSpPr>
        <p:spPr>
          <a:xfrm>
            <a:off x="457578" y="1901877"/>
            <a:ext cx="502920" cy="658368"/>
          </a:xfrm>
          <a:prstGeom prst="rect">
            <a:avLst/>
          </a:prstGeom>
          <a:solidFill>
            <a:srgbClr val="F1BF00"/>
          </a:solidFill>
          <a:ln w="12700">
            <a:solidFill>
              <a:srgbClr val="F1BF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/>
          <p:nvPr/>
        </p:nvSpPr>
        <p:spPr>
          <a:xfrm>
            <a:off x="457578" y="2066469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 Plots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51938" y="1956741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Transfer-Dominanz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938" y="2249349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BF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Sankey–Diagram, Line-Chart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5098" y="2011605"/>
            <a:ext cx="0" cy="438912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/>
          <p:nvPr/>
        </p:nvSpPr>
        <p:spPr>
          <a:xfrm>
            <a:off x="3612258" y="1956741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Sankey zeigt Geldflüsse zwischen Ligen direkt · </a:t>
            </a:r>
            <a:r>
              <a:rPr lang="en-US" sz="950" dirty="0" err="1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Nettobilanz</a:t>
            </a:r>
            <a:r>
              <a:rPr lang="en-US" sz="95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Linien </a:t>
            </a:r>
            <a:r>
              <a:rPr lang="en-US" sz="950" dirty="0" err="1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zeigen</a:t>
            </a:r>
            <a:r>
              <a:rPr lang="en-US" sz="95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Käufer/Verkäufer-Rollen über Zeit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578" y="2624253"/>
            <a:ext cx="8229600" cy="658368"/>
          </a:xfrm>
          <a:prstGeom prst="rect">
            <a:avLst/>
          </a:prstGeom>
          <a:solidFill>
            <a:srgbClr val="000000">
              <a:alpha val="4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3" name="Shape 31"/>
          <p:cNvSpPr/>
          <p:nvPr/>
        </p:nvSpPr>
        <p:spPr>
          <a:xfrm>
            <a:off x="457578" y="2624253"/>
            <a:ext cx="502920" cy="658368"/>
          </a:xfrm>
          <a:prstGeom prst="rect">
            <a:avLst/>
          </a:prstGeom>
          <a:solidFill>
            <a:srgbClr val="D10214"/>
          </a:solidFill>
          <a:ln w="12700">
            <a:solidFill>
              <a:srgbClr val="D102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/>
          <p:nvPr/>
        </p:nvSpPr>
        <p:spPr>
          <a:xfrm>
            <a:off x="457578" y="2788845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 Plot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051938" y="2679117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Marktwert-Konzentration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51938" y="2971725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021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Stacked Area Chart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75098" y="2733981"/>
            <a:ext cx="0" cy="438912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/>
          <p:nvPr/>
        </p:nvSpPr>
        <p:spPr>
          <a:xfrm>
            <a:off x="3612258" y="2679117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Variable </a:t>
            </a:r>
            <a:r>
              <a:rPr lang="en-US" sz="950" dirty="0" err="1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Anzahl</a:t>
            </a:r>
            <a:r>
              <a:rPr lang="en-US" sz="95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Top Spieler pro Liga </a:t>
            </a:r>
            <a:r>
              <a:rPr lang="en-US" sz="950" dirty="0" err="1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über</a:t>
            </a:r>
            <a:r>
              <a:rPr lang="en-US" sz="95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die Jahre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578" y="3346629"/>
            <a:ext cx="8229600" cy="658368"/>
          </a:xfrm>
          <a:prstGeom prst="rect">
            <a:avLst/>
          </a:prstGeom>
          <a:solidFill>
            <a:srgbClr val="000000">
              <a:alpha val="4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0" name="Shape 38"/>
          <p:cNvSpPr/>
          <p:nvPr/>
        </p:nvSpPr>
        <p:spPr>
          <a:xfrm>
            <a:off x="457578" y="3346629"/>
            <a:ext cx="502920" cy="658368"/>
          </a:xfrm>
          <a:prstGeom prst="rect">
            <a:avLst/>
          </a:prstGeom>
          <a:solidFill>
            <a:srgbClr val="008C45"/>
          </a:solidFill>
          <a:ln w="12700">
            <a:solidFill>
              <a:srgbClr val="008C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1" name="Text 39"/>
          <p:cNvSpPr/>
          <p:nvPr/>
        </p:nvSpPr>
        <p:spPr>
          <a:xfrm>
            <a:off x="457578" y="3511221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 Plot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051938" y="3401493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Korrelation</a:t>
            </a:r>
            <a:r>
              <a:rPr lang="en-US" sz="13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Marktwert</a:t>
            </a:r>
            <a:r>
              <a:rPr lang="en-US" sz="13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&amp; </a:t>
            </a:r>
            <a:r>
              <a:rPr lang="en-US" sz="1300" b="1" dirty="0" err="1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Leistung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51938" y="3694101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8C4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Line-Chart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75098" y="3456357"/>
            <a:ext cx="0" cy="438912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5" name="Text 43"/>
          <p:cNvSpPr/>
          <p:nvPr/>
        </p:nvSpPr>
        <p:spPr>
          <a:xfrm>
            <a:off x="3612258" y="3401493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Korrelation direkt ablesbar · Farbe nach Liga </a:t>
            </a:r>
            <a:r>
              <a:rPr lang="en-US" sz="950" dirty="0" err="1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ermöglicht</a:t>
            </a:r>
            <a:r>
              <a:rPr lang="en-US" sz="950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950" dirty="0" err="1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Gruppenvergleich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578" y="4069005"/>
            <a:ext cx="8229600" cy="658368"/>
          </a:xfrm>
          <a:prstGeom prst="rect">
            <a:avLst/>
          </a:prstGeom>
          <a:solidFill>
            <a:srgbClr val="000000">
              <a:alpha val="4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7" name="Shape 45"/>
          <p:cNvSpPr/>
          <p:nvPr/>
        </p:nvSpPr>
        <p:spPr>
          <a:xfrm>
            <a:off x="457578" y="4069005"/>
            <a:ext cx="502920" cy="658368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en-CH">
              <a:solidFill>
                <a:schemeClr val="bg1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457578" y="4233597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 Plot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051938" y="4123869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Konzentration</a:t>
            </a:r>
            <a:r>
              <a:rPr lang="en-US" sz="13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der </a:t>
            </a:r>
            <a:r>
              <a:rPr lang="en-US" sz="1300" b="1" dirty="0" err="1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Marktwerte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051938" y="4416477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Line-Chart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1" name="Shape 49"/>
          <p:cNvSpPr/>
          <p:nvPr/>
        </p:nvSpPr>
        <p:spPr>
          <a:xfrm>
            <a:off x="3475098" y="4178733"/>
            <a:ext cx="0" cy="438912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2" name="Text 50"/>
          <p:cNvSpPr/>
          <p:nvPr/>
        </p:nvSpPr>
        <p:spPr>
          <a:xfrm>
            <a:off x="3612258" y="4123869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CCCCCC"/>
                </a:solidFill>
                <a:latin typeface="Barlow" pitchFamily="34" charset="0"/>
              </a:rPr>
              <a:t>Anteil</a:t>
            </a:r>
            <a:r>
              <a:rPr lang="en-US" sz="950" dirty="0">
                <a:solidFill>
                  <a:srgbClr val="CCCCCC"/>
                </a:solidFill>
                <a:latin typeface="Barlow" pitchFamily="34" charset="0"/>
              </a:rPr>
              <a:t> der Top 4 Clubs am </a:t>
            </a:r>
            <a:r>
              <a:rPr lang="en-US" sz="950" dirty="0" err="1">
                <a:solidFill>
                  <a:srgbClr val="CCCCCC"/>
                </a:solidFill>
                <a:latin typeface="Barlow" pitchFamily="34" charset="0"/>
              </a:rPr>
              <a:t>Gesamtmarktwert</a:t>
            </a:r>
            <a:r>
              <a:rPr lang="en-US" sz="950" dirty="0">
                <a:solidFill>
                  <a:srgbClr val="CCCCCC"/>
                </a:solidFill>
                <a:latin typeface="Barlow" pitchFamily="34" charset="0"/>
              </a:rPr>
              <a:t> der Liga </a:t>
            </a:r>
            <a:r>
              <a:rPr lang="en-US" sz="950" dirty="0" err="1">
                <a:solidFill>
                  <a:srgbClr val="CCCCCC"/>
                </a:solidFill>
                <a:latin typeface="Barlow" pitchFamily="34" charset="0"/>
              </a:rPr>
              <a:t>über</a:t>
            </a:r>
            <a:r>
              <a:rPr lang="en-US" sz="950" dirty="0">
                <a:solidFill>
                  <a:srgbClr val="CCCCCC"/>
                </a:solidFill>
                <a:latin typeface="Barlow" pitchFamily="34" charset="0"/>
              </a:rPr>
              <a:t> die Jahre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C7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10287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0" y="20574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0" y="30861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0" y="4114800"/>
            <a:ext cx="9144000" cy="514350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320040" y="320040"/>
            <a:ext cx="8503920" cy="4503420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4572000" y="320040"/>
            <a:ext cx="0" cy="4503420"/>
          </a:xfrm>
          <a:prstGeom prst="line">
            <a:avLst/>
          </a:prstGeom>
          <a:noFill/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4069080" y="2068830"/>
            <a:ext cx="1005840" cy="1005840"/>
          </a:xfrm>
          <a:prstGeom prst="ellipse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4526280" y="2526030"/>
            <a:ext cx="91440" cy="91440"/>
          </a:xfrm>
          <a:prstGeom prst="ellipse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320040" y="1310792"/>
            <a:ext cx="1318108" cy="2521915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7505852" y="1310792"/>
            <a:ext cx="1318108" cy="2521915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Shape 11"/>
          <p:cNvSpPr/>
          <p:nvPr/>
        </p:nvSpPr>
        <p:spPr>
          <a:xfrm>
            <a:off x="320040" y="1986305"/>
            <a:ext cx="467716" cy="1170889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Shape 12"/>
          <p:cNvSpPr/>
          <p:nvPr/>
        </p:nvSpPr>
        <p:spPr>
          <a:xfrm>
            <a:off x="8356244" y="1986305"/>
            <a:ext cx="467716" cy="1170889"/>
          </a:xfrm>
          <a:prstGeom prst="rect">
            <a:avLst/>
          </a:prstGeom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Shape 13"/>
          <p:cNvSpPr/>
          <p:nvPr/>
        </p:nvSpPr>
        <p:spPr>
          <a:xfrm>
            <a:off x="914400" y="365760"/>
            <a:ext cx="7315200" cy="443484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Shape 14"/>
          <p:cNvSpPr/>
          <p:nvPr/>
        </p:nvSpPr>
        <p:spPr>
          <a:xfrm>
            <a:off x="914400" y="365760"/>
            <a:ext cx="7315200" cy="54864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1097279" y="379476"/>
            <a:ext cx="6949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FAZIT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1097280" y="1710468"/>
            <a:ext cx="6949440" cy="566928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/>
          <p:nvPr/>
        </p:nvSpPr>
        <p:spPr>
          <a:xfrm>
            <a:off x="1196492" y="1800765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b="1" cap="all" dirty="0">
                <a:solidFill>
                  <a:schemeClr val="bg1"/>
                </a:solidFill>
                <a:latin typeface="Barlow" pitchFamily="2" charset="77"/>
              </a:rPr>
              <a:t>Aus </a:t>
            </a:r>
            <a:r>
              <a:rPr lang="en-GB" b="1" cap="all" dirty="0" err="1">
                <a:solidFill>
                  <a:schemeClr val="bg1"/>
                </a:solidFill>
                <a:latin typeface="Barlow" pitchFamily="2" charset="77"/>
              </a:rPr>
              <a:t>einem</a:t>
            </a:r>
            <a:r>
              <a:rPr lang="en-GB" b="1" cap="all" dirty="0">
                <a:solidFill>
                  <a:schemeClr val="bg1"/>
                </a:solidFill>
                <a:latin typeface="Barlow" pitchFamily="2" charset="77"/>
              </a:rPr>
              <a:t> </a:t>
            </a:r>
            <a:r>
              <a:rPr lang="en-GB" b="1" cap="all" dirty="0" err="1">
                <a:solidFill>
                  <a:schemeClr val="bg1"/>
                </a:solidFill>
                <a:latin typeface="Barlow" pitchFamily="2" charset="77"/>
              </a:rPr>
              <a:t>engen</a:t>
            </a:r>
            <a:r>
              <a:rPr lang="en-GB" b="1" cap="all" dirty="0">
                <a:solidFill>
                  <a:schemeClr val="bg1"/>
                </a:solidFill>
                <a:latin typeface="Barlow" pitchFamily="2" charset="77"/>
              </a:rPr>
              <a:t> Feld </a:t>
            </a:r>
            <a:r>
              <a:rPr lang="en-GB" b="1" cap="all" dirty="0" err="1">
                <a:solidFill>
                  <a:schemeClr val="bg1"/>
                </a:solidFill>
                <a:latin typeface="Barlow" pitchFamily="2" charset="77"/>
              </a:rPr>
              <a:t>wird</a:t>
            </a:r>
            <a:r>
              <a:rPr lang="en-GB" b="1" cap="all" dirty="0">
                <a:solidFill>
                  <a:schemeClr val="bg1"/>
                </a:solidFill>
                <a:latin typeface="Barlow" pitchFamily="2" charset="77"/>
              </a:rPr>
              <a:t> </a:t>
            </a:r>
            <a:r>
              <a:rPr lang="en-GB" b="1" cap="all" dirty="0" err="1">
                <a:solidFill>
                  <a:schemeClr val="bg1"/>
                </a:solidFill>
                <a:latin typeface="Barlow" pitchFamily="2" charset="77"/>
              </a:rPr>
              <a:t>ein</a:t>
            </a:r>
            <a:r>
              <a:rPr lang="en-GB" b="1" cap="all" dirty="0">
                <a:solidFill>
                  <a:schemeClr val="bg1"/>
                </a:solidFill>
                <a:latin typeface="Barlow" pitchFamily="2" charset="77"/>
              </a:rPr>
              <a:t> </a:t>
            </a:r>
            <a:r>
              <a:rPr lang="en-GB" b="1" cap="all" dirty="0" err="1">
                <a:solidFill>
                  <a:schemeClr val="bg1"/>
                </a:solidFill>
                <a:latin typeface="Barlow" pitchFamily="2" charset="77"/>
              </a:rPr>
              <a:t>klarer</a:t>
            </a:r>
            <a:r>
              <a:rPr lang="en-GB" b="1" cap="all" dirty="0">
                <a:solidFill>
                  <a:schemeClr val="bg1"/>
                </a:solidFill>
                <a:latin typeface="Barlow" pitchFamily="2" charset="77"/>
              </a:rPr>
              <a:t> </a:t>
            </a:r>
            <a:r>
              <a:rPr lang="en-GB" b="1" cap="all" dirty="0" err="1">
                <a:solidFill>
                  <a:schemeClr val="bg1"/>
                </a:solidFill>
                <a:latin typeface="Barlow" pitchFamily="2" charset="77"/>
              </a:rPr>
              <a:t>Abstand</a:t>
            </a:r>
            <a:endParaRPr lang="en-GB" b="1" cap="all" dirty="0">
              <a:solidFill>
                <a:schemeClr val="bg1"/>
              </a:solidFill>
              <a:latin typeface="Barlow" pitchFamily="2" charset="7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97280" y="2368836"/>
            <a:ext cx="6949440" cy="889196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H" dirty="0"/>
          </a:p>
        </p:txBody>
      </p:sp>
      <p:sp>
        <p:nvSpPr>
          <p:cNvPr id="24" name="Shape 22"/>
          <p:cNvSpPr/>
          <p:nvPr/>
        </p:nvSpPr>
        <p:spPr>
          <a:xfrm>
            <a:off x="1097280" y="2368836"/>
            <a:ext cx="54864" cy="889196"/>
          </a:xfrm>
          <a:prstGeom prst="rect">
            <a:avLst/>
          </a:prstGeom>
          <a:solidFill>
            <a:srgbClr val="F1BF00"/>
          </a:solidFill>
          <a:ln w="12700">
            <a:solidFill>
              <a:srgbClr val="F1BF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/>
          <p:nvPr/>
        </p:nvSpPr>
        <p:spPr>
          <a:xfrm>
            <a:off x="1333651" y="2258193"/>
            <a:ext cx="6309360" cy="1090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200" dirty="0">
                <a:solidFill>
                  <a:schemeClr val="bg1"/>
                </a:solidFill>
                <a:latin typeface="Barlow" pitchFamily="2" charset="77"/>
              </a:rPr>
              <a:t>2010 </a:t>
            </a:r>
            <a:r>
              <a:rPr lang="en-GB" sz="1200" dirty="0" err="1">
                <a:solidFill>
                  <a:schemeClr val="bg1"/>
                </a:solidFill>
                <a:latin typeface="Barlow" pitchFamily="2" charset="77"/>
              </a:rPr>
              <a:t>bewegten</a:t>
            </a:r>
            <a:r>
              <a:rPr lang="en-GB" sz="1200" dirty="0">
                <a:solidFill>
                  <a:schemeClr val="bg1"/>
                </a:solidFill>
                <a:latin typeface="Barlow" pitchFamily="2" charset="77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Barlow" pitchFamily="2" charset="77"/>
              </a:rPr>
              <a:t>sich</a:t>
            </a:r>
            <a:r>
              <a:rPr lang="en-GB" sz="1200" dirty="0">
                <a:solidFill>
                  <a:schemeClr val="bg1"/>
                </a:solidFill>
                <a:latin typeface="Barlow" pitchFamily="2" charset="77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Barlow" pitchFamily="2" charset="77"/>
              </a:rPr>
              <a:t>fünf</a:t>
            </a:r>
            <a:r>
              <a:rPr lang="en-GB" sz="1200" dirty="0">
                <a:solidFill>
                  <a:schemeClr val="bg1"/>
                </a:solidFill>
                <a:latin typeface="Barlow" pitchFamily="2" charset="77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Barlow" pitchFamily="2" charset="77"/>
              </a:rPr>
              <a:t>Ligen</a:t>
            </a:r>
            <a:r>
              <a:rPr lang="en-GB" sz="1200" dirty="0">
                <a:solidFill>
                  <a:schemeClr val="bg1"/>
                </a:solidFill>
                <a:latin typeface="Barlow" pitchFamily="2" charset="77"/>
              </a:rPr>
              <a:t> in </a:t>
            </a:r>
            <a:r>
              <a:rPr lang="en-GB" sz="1200" dirty="0" err="1">
                <a:solidFill>
                  <a:schemeClr val="bg1"/>
                </a:solidFill>
                <a:latin typeface="Barlow" pitchFamily="2" charset="77"/>
              </a:rPr>
              <a:t>einer</a:t>
            </a:r>
            <a:r>
              <a:rPr lang="en-GB" sz="1200" dirty="0">
                <a:solidFill>
                  <a:schemeClr val="bg1"/>
                </a:solidFill>
                <a:latin typeface="Barlow" pitchFamily="2" charset="77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Barlow" pitchFamily="2" charset="77"/>
              </a:rPr>
              <a:t>ähnlichen</a:t>
            </a:r>
            <a:r>
              <a:rPr lang="en-GB" sz="1200" dirty="0">
                <a:solidFill>
                  <a:schemeClr val="bg1"/>
                </a:solidFill>
                <a:latin typeface="Barlow" pitchFamily="2" charset="77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Barlow" pitchFamily="2" charset="77"/>
              </a:rPr>
              <a:t>Grössenordnung</a:t>
            </a:r>
            <a:r>
              <a:rPr lang="en-GB" sz="1200" dirty="0">
                <a:solidFill>
                  <a:schemeClr val="bg1"/>
                </a:solidFill>
                <a:latin typeface="Barlow" pitchFamily="2" charset="77"/>
              </a:rPr>
              <a:t>. </a:t>
            </a:r>
            <a:r>
              <a:rPr lang="en-GB" sz="1200" dirty="0" err="1">
                <a:solidFill>
                  <a:schemeClr val="bg1"/>
                </a:solidFill>
                <a:latin typeface="Barlow" pitchFamily="2" charset="77"/>
              </a:rPr>
              <a:t>Fünfzehn</a:t>
            </a:r>
            <a:r>
              <a:rPr lang="en-GB" sz="1200" dirty="0">
                <a:solidFill>
                  <a:schemeClr val="bg1"/>
                </a:solidFill>
                <a:latin typeface="Barlow" pitchFamily="2" charset="77"/>
              </a:rPr>
              <a:t> Saisons </a:t>
            </a:r>
            <a:r>
              <a:rPr lang="en-GB" sz="1200" dirty="0" err="1">
                <a:solidFill>
                  <a:schemeClr val="bg1"/>
                </a:solidFill>
                <a:latin typeface="Barlow" pitchFamily="2" charset="77"/>
              </a:rPr>
              <a:t>später</a:t>
            </a:r>
            <a:r>
              <a:rPr lang="en-GB" sz="1200" dirty="0">
                <a:solidFill>
                  <a:schemeClr val="bg1"/>
                </a:solidFill>
                <a:latin typeface="Barlow" pitchFamily="2" charset="77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Barlow" pitchFamily="2" charset="77"/>
              </a:rPr>
              <a:t>bildet</a:t>
            </a:r>
            <a:r>
              <a:rPr lang="en-GB" sz="1200" dirty="0">
                <a:solidFill>
                  <a:schemeClr val="bg1"/>
                </a:solidFill>
                <a:latin typeface="Barlow" pitchFamily="2" charset="77"/>
              </a:rPr>
              <a:t> die Premier League </a:t>
            </a:r>
            <a:r>
              <a:rPr lang="en-GB" sz="1200" dirty="0" err="1">
                <a:solidFill>
                  <a:schemeClr val="bg1"/>
                </a:solidFill>
                <a:latin typeface="Barlow" pitchFamily="2" charset="77"/>
              </a:rPr>
              <a:t>finanziell</a:t>
            </a:r>
            <a:r>
              <a:rPr lang="en-GB" sz="1200" dirty="0">
                <a:solidFill>
                  <a:schemeClr val="bg1"/>
                </a:solidFill>
                <a:latin typeface="Barlow" pitchFamily="2" charset="77"/>
              </a:rPr>
              <a:t> </a:t>
            </a:r>
            <a:r>
              <a:rPr lang="en-GB" sz="1200" b="1" dirty="0" err="1">
                <a:solidFill>
                  <a:schemeClr val="bg1"/>
                </a:solidFill>
                <a:latin typeface="Barlow" pitchFamily="2" charset="77"/>
              </a:rPr>
              <a:t>eine</a:t>
            </a:r>
            <a:r>
              <a:rPr lang="en-GB" sz="1200" b="1" dirty="0">
                <a:solidFill>
                  <a:schemeClr val="bg1"/>
                </a:solidFill>
                <a:latin typeface="Barlow" pitchFamily="2" charset="77"/>
              </a:rPr>
              <a:t> </a:t>
            </a:r>
            <a:r>
              <a:rPr lang="en-GB" sz="1200" b="1" dirty="0" err="1">
                <a:solidFill>
                  <a:schemeClr val="bg1"/>
                </a:solidFill>
                <a:latin typeface="Barlow" pitchFamily="2" charset="77"/>
              </a:rPr>
              <a:t>eigene</a:t>
            </a:r>
            <a:r>
              <a:rPr lang="en-GB" sz="1200" b="1" dirty="0">
                <a:solidFill>
                  <a:schemeClr val="bg1"/>
                </a:solidFill>
                <a:latin typeface="Barlow" pitchFamily="2" charset="77"/>
              </a:rPr>
              <a:t> </a:t>
            </a:r>
            <a:r>
              <a:rPr lang="en-GB" sz="1200" b="1" dirty="0" err="1">
                <a:solidFill>
                  <a:schemeClr val="bg1"/>
                </a:solidFill>
                <a:latin typeface="Barlow" pitchFamily="2" charset="77"/>
              </a:rPr>
              <a:t>Kategorie</a:t>
            </a:r>
            <a:r>
              <a:rPr lang="en-GB" sz="1200" b="1" dirty="0">
                <a:solidFill>
                  <a:schemeClr val="bg1"/>
                </a:solidFill>
                <a:latin typeface="Barlow" pitchFamily="2" charset="77"/>
              </a:rPr>
              <a:t>.</a:t>
            </a:r>
            <a:endParaRPr lang="en-US" sz="1000" dirty="0">
              <a:solidFill>
                <a:schemeClr val="bg1"/>
              </a:solidFill>
              <a:latin typeface="Barlow" pitchFamily="2" charset="7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88720" y="358444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1" name="Text 29">
            <a:hlinkClick r:id="rId3"/>
          </p:cNvPr>
          <p:cNvSpPr/>
          <p:nvPr/>
        </p:nvSpPr>
        <p:spPr>
          <a:xfrm>
            <a:off x="1097280" y="434340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D4A830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Dashboard: vdss-fs26-ds25a.github.io/ds25a-2-fancyproject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14400" y="4709160"/>
            <a:ext cx="7315200" cy="54864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364</Words>
  <Application>Microsoft Macintosh PowerPoint</Application>
  <PresentationFormat>On-screen Show (16:9)</PresentationFormat>
  <Paragraphs>91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Barlow</vt:lpstr>
      <vt:lpstr>Oswald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 grosse Geld im Europäischen Fussball</dc:title>
  <dc:subject>PptxGenJS Presentation</dc:subject>
  <dc:creator>PptxGenJS</dc:creator>
  <cp:lastModifiedBy>Lt Jay Bärtschi</cp:lastModifiedBy>
  <cp:revision>4</cp:revision>
  <dcterms:created xsi:type="dcterms:W3CDTF">2026-05-31T06:55:56Z</dcterms:created>
  <dcterms:modified xsi:type="dcterms:W3CDTF">2026-05-31T19:33:13Z</dcterms:modified>
</cp:coreProperties>
</file>
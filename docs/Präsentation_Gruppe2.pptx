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0052"/>
    <a:srgbClr val="01F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00"/>
    <p:restoredTop sz="94610"/>
  </p:normalViewPr>
  <p:slideViewPr>
    <p:cSldViewPr snapToGrid="0" snapToObjects="1">
      <p:cViewPr>
        <p:scale>
          <a:sx n="162" d="100"/>
          <a:sy n="162" d="100"/>
        </p:scale>
        <p:origin x="39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137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vdss-fs26-ds25a.github.io/ds25a-2-fancyprojec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7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10287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20574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45720" y="309232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45720" y="412102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320040" y="320040"/>
            <a:ext cx="8503920" cy="4503420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4572000" y="320040"/>
            <a:ext cx="0" cy="4503420"/>
          </a:xfrm>
          <a:prstGeom prst="line">
            <a:avLst/>
          </a:prstGeom>
          <a:noFill/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4069080" y="2068830"/>
            <a:ext cx="1005840" cy="1005840"/>
          </a:xfrm>
          <a:prstGeom prst="ellipse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526280" y="2526030"/>
            <a:ext cx="91440" cy="91440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320040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7505852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320040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1371600" y="914400"/>
            <a:ext cx="6400800" cy="329184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8356244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1371600" y="914400"/>
            <a:ext cx="640080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3845749" y="1108710"/>
            <a:ext cx="1452499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D4A83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ZHAW FS26 · VDSS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14173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Das grosse Geld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554480" y="22402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4A83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 Europäischen Fussball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1371600" y="4114800"/>
            <a:ext cx="640080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28" name="Picture 27" descr="A blue and white logo&#10;&#10;AI-generated content may be incorrect.">
            <a:extLst>
              <a:ext uri="{FF2B5EF4-FFF2-40B4-BE49-F238E27FC236}">
                <a16:creationId xmlns:a16="http://schemas.microsoft.com/office/drawing/2014/main" id="{F9AA9F2C-EE9B-9EBD-71ED-B5A8A4711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171" y="2884003"/>
            <a:ext cx="723590" cy="319507"/>
          </a:xfrm>
          <a:prstGeom prst="rect">
            <a:avLst/>
          </a:prstGeom>
        </p:spPr>
      </p:pic>
      <p:sp>
        <p:nvSpPr>
          <p:cNvPr id="39" name="Shape 24">
            <a:extLst>
              <a:ext uri="{FF2B5EF4-FFF2-40B4-BE49-F238E27FC236}">
                <a16:creationId xmlns:a16="http://schemas.microsoft.com/office/drawing/2014/main" id="{1D6F416F-C102-9F65-C15F-56021B514A0A}"/>
              </a:ext>
            </a:extLst>
          </p:cNvPr>
          <p:cNvSpPr/>
          <p:nvPr/>
        </p:nvSpPr>
        <p:spPr>
          <a:xfrm>
            <a:off x="1531185" y="3321936"/>
            <a:ext cx="6055563" cy="69755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CH" dirty="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70B4302D-63CD-D7B4-C85B-BF5CB25008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30612" y="3355727"/>
            <a:ext cx="588862" cy="588862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ED6CBFA2-68AC-FCD0-F184-AEC3E6B179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51825" y="3355727"/>
            <a:ext cx="588862" cy="588862"/>
          </a:xfrm>
          <a:prstGeom prst="rect">
            <a:avLst/>
          </a:prstGeom>
        </p:spPr>
      </p:pic>
      <p:sp>
        <p:nvSpPr>
          <p:cNvPr id="48" name="Shape 13">
            <a:extLst>
              <a:ext uri="{FF2B5EF4-FFF2-40B4-BE49-F238E27FC236}">
                <a16:creationId xmlns:a16="http://schemas.microsoft.com/office/drawing/2014/main" id="{381B6539-CF9F-E78F-E6CD-489D91C7CE05}"/>
              </a:ext>
            </a:extLst>
          </p:cNvPr>
          <p:cNvSpPr/>
          <p:nvPr/>
        </p:nvSpPr>
        <p:spPr>
          <a:xfrm>
            <a:off x="1371598" y="4339532"/>
            <a:ext cx="6400800" cy="25532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3B5FA2A9-67AB-D37B-810D-312585091F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31971" y="3351259"/>
            <a:ext cx="333825" cy="597798"/>
          </a:xfrm>
          <a:prstGeom prst="rect">
            <a:avLst/>
          </a:prstGeom>
        </p:spPr>
      </p:pic>
      <p:sp>
        <p:nvSpPr>
          <p:cNvPr id="25" name="Text 23"/>
          <p:cNvSpPr/>
          <p:nvPr/>
        </p:nvSpPr>
        <p:spPr>
          <a:xfrm>
            <a:off x="1554480" y="4339533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John Wiese, Noa Medved, Jay Bärtschi</a:t>
            </a:r>
            <a:endParaRPr lang="en-US" sz="1100" b="1" dirty="0">
              <a:solidFill>
                <a:schemeClr val="bg1"/>
              </a:solidFill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D857FB58-E796-517D-C193-0D41794F6A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95051" y="3316107"/>
            <a:ext cx="403210" cy="668102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D7DD7772-6BE1-4F65-D15D-D9A88DB6C26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73038" y="3498194"/>
            <a:ext cx="726581" cy="3039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C7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10287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20574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0" y="30861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0" y="41148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320040" y="320040"/>
            <a:ext cx="8503920" cy="4503420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4572000" y="320040"/>
            <a:ext cx="0" cy="4503420"/>
          </a:xfrm>
          <a:prstGeom prst="line">
            <a:avLst/>
          </a:prstGeom>
          <a:noFill/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4069080" y="2068830"/>
            <a:ext cx="1005840" cy="1005840"/>
          </a:xfrm>
          <a:prstGeom prst="ellipse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526280" y="2526030"/>
            <a:ext cx="91440" cy="91440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320040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7505852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320040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8356244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365760" y="320040"/>
            <a:ext cx="8412480" cy="448056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54864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713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300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PROJEKTZIELE &amp; ERFOLGSKRITERIEN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1325880"/>
            <a:ext cx="8138160" cy="9144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502920" y="1325880"/>
            <a:ext cx="813816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59436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3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Hauptziel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17190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Aufzeigen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, </a:t>
            </a:r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wie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 Geld den </a:t>
            </a:r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modernen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 </a:t>
            </a:r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Fussball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 </a:t>
            </a:r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verändert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 — </a:t>
            </a:r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sichtbar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 </a:t>
            </a:r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gemacht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 in 5 </a:t>
            </a:r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Akten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 </a:t>
            </a: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 </a:t>
            </a:r>
            <a:r>
              <a:rPr lang="en-US" sz="1150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einem</a:t>
            </a: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scrollbares</a:t>
            </a: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Narrativ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2377440"/>
            <a:ext cx="3931920" cy="24231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502920" y="2377440"/>
            <a:ext cx="3931920" cy="54864"/>
          </a:xfrm>
          <a:prstGeom prst="rect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594360" y="2487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Thematische Schwerpunkte</a:t>
            </a:r>
            <a:endParaRPr lang="en-US" sz="1300" dirty="0">
              <a:solidFill>
                <a:srgbClr val="01F5F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777240" y="2858643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Transfermarkt-Entwicklung 2010–2024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" y="3465576"/>
            <a:ext cx="100584" cy="100584"/>
          </a:xfrm>
          <a:prstGeom prst="ellipse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777240" y="3315843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Kapitalkonzentration der Topklubs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3922776"/>
            <a:ext cx="100584" cy="100584"/>
          </a:xfrm>
          <a:prstGeom prst="ellipse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777240" y="376504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Geldflüsse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" y="4379976"/>
            <a:ext cx="100584" cy="100584"/>
          </a:xfrm>
          <a:prstGeom prst="ellipse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777240" y="42473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Korrelation</a:t>
            </a: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Wert &amp; </a:t>
            </a:r>
            <a:r>
              <a:rPr lang="en-US" sz="1050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Erfolg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0" y="2377440"/>
            <a:ext cx="3977640" cy="24231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Shape 32"/>
          <p:cNvSpPr/>
          <p:nvPr/>
        </p:nvSpPr>
        <p:spPr>
          <a:xfrm>
            <a:off x="4617720" y="2377440"/>
            <a:ext cx="3977640" cy="54864"/>
          </a:xfrm>
          <a:prstGeom prst="rect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>
              <a:solidFill>
                <a:srgbClr val="EA0052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4709160" y="2487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Erfolgskriterien</a:t>
            </a:r>
            <a:endParaRPr lang="en-US" sz="1300" dirty="0">
              <a:solidFill>
                <a:srgbClr val="EA0052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01184" y="286435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Dashboard öffentlich auf GitHub Pages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4901184" y="332613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 </a:t>
            </a:r>
            <a:r>
              <a:rPr lang="en-US" sz="1050" dirty="0" err="1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Akte</a:t>
            </a:r>
            <a:r>
              <a:rPr lang="en-US" sz="10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mit</a:t>
            </a:r>
            <a:r>
              <a:rPr lang="en-US" sz="10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verschiedenen</a:t>
            </a:r>
            <a:r>
              <a:rPr lang="en-US" sz="10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Visualisierungen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4892040" y="3798417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Reproduzierbarer Code (uv + Quarto)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4800600" y="44531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10421EC5-85A1-09C1-3B01-E87BC8102CF3}"/>
              </a:ext>
            </a:extLst>
          </p:cNvPr>
          <p:cNvSpPr/>
          <p:nvPr/>
        </p:nvSpPr>
        <p:spPr>
          <a:xfrm>
            <a:off x="4704588" y="3008376"/>
            <a:ext cx="100584" cy="100584"/>
          </a:xfrm>
          <a:prstGeom prst="ellipse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>
              <a:solidFill>
                <a:srgbClr val="EA0052"/>
              </a:solidFill>
            </a:endParaRPr>
          </a:p>
        </p:txBody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3D014F42-B47E-D4DF-7960-A5BA9797A76A}"/>
              </a:ext>
            </a:extLst>
          </p:cNvPr>
          <p:cNvSpPr/>
          <p:nvPr/>
        </p:nvSpPr>
        <p:spPr>
          <a:xfrm>
            <a:off x="4704588" y="3465576"/>
            <a:ext cx="100584" cy="100584"/>
          </a:xfrm>
          <a:prstGeom prst="ellipse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>
              <a:solidFill>
                <a:srgbClr val="EA0052"/>
              </a:solidFill>
            </a:endParaRPr>
          </a:p>
        </p:txBody>
      </p:sp>
      <p:sp>
        <p:nvSpPr>
          <p:cNvPr id="46" name="Shape 27">
            <a:extLst>
              <a:ext uri="{FF2B5EF4-FFF2-40B4-BE49-F238E27FC236}">
                <a16:creationId xmlns:a16="http://schemas.microsoft.com/office/drawing/2014/main" id="{9005AE4C-3FF0-95F0-FCE6-68E9CE4CAC91}"/>
              </a:ext>
            </a:extLst>
          </p:cNvPr>
          <p:cNvSpPr/>
          <p:nvPr/>
        </p:nvSpPr>
        <p:spPr>
          <a:xfrm>
            <a:off x="4704588" y="3922776"/>
            <a:ext cx="100584" cy="100584"/>
          </a:xfrm>
          <a:prstGeom prst="ellipse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>
              <a:solidFill>
                <a:srgbClr val="EA005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C7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10287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20574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0" y="30861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0" y="41148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320040" y="320040"/>
            <a:ext cx="8503920" cy="4503420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4572000" y="320040"/>
            <a:ext cx="0" cy="4503420"/>
          </a:xfrm>
          <a:prstGeom prst="line">
            <a:avLst/>
          </a:prstGeom>
          <a:noFill/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4069080" y="2068830"/>
            <a:ext cx="1005840" cy="1005840"/>
          </a:xfrm>
          <a:prstGeom prst="ellipse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526280" y="2526030"/>
            <a:ext cx="91440" cy="91440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320040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7505852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320040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8356244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365760" y="320040"/>
            <a:ext cx="8412480" cy="448056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54864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713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ZIELGRUPPE / PERSONAS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02920" y="1371600"/>
            <a:ext cx="3977640" cy="33147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 dirty="0"/>
          </a:p>
        </p:txBody>
      </p:sp>
      <p:sp>
        <p:nvSpPr>
          <p:cNvPr id="19" name="Shape 17"/>
          <p:cNvSpPr/>
          <p:nvPr/>
        </p:nvSpPr>
        <p:spPr>
          <a:xfrm>
            <a:off x="502920" y="1371600"/>
            <a:ext cx="3977640" cy="54864"/>
          </a:xfrm>
          <a:prstGeom prst="rect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502920" y="1371600"/>
            <a:ext cx="54864" cy="3314700"/>
          </a:xfrm>
          <a:prstGeom prst="rect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/>
          <p:nvPr/>
        </p:nvSpPr>
        <p:spPr>
          <a:xfrm>
            <a:off x="640080" y="14813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Lukas Brenner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18470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Data Analyst, 28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2157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Bern ·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analytisch</a:t>
            </a:r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technikaffin</a:t>
            </a:r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intrinsisch</a:t>
            </a:r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motiviert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2609487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Profil</a:t>
            </a:r>
            <a:endParaRPr lang="en-US" sz="1000" dirty="0">
              <a:solidFill>
                <a:srgbClr val="01F5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" y="286365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Verfolgt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europäischen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Fussball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leidenschaftlich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analysiert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Transferdaten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 der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Freizeit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nutzt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mehrere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Datenquellen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gleichzeitig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programmiert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(Python, R)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47142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Was er </a:t>
            </a:r>
            <a:r>
              <a:rPr lang="en-US" sz="1000" b="1" dirty="0" err="1">
                <a:solidFill>
                  <a:srgbClr val="01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erwartet</a:t>
            </a:r>
            <a:endParaRPr lang="en-US" sz="1000" dirty="0">
              <a:solidFill>
                <a:srgbClr val="01F5FF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373075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Transferausgaben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&amp;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Marktwertentwicklungen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detailliert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analysieren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Ligen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&amp; Clubs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über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Saisons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vergleichen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wirtschaftliche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Muster &amp;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Anomalien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identifizieren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371600"/>
            <a:ext cx="3977640" cy="33147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 dirty="0"/>
          </a:p>
        </p:txBody>
      </p:sp>
      <p:sp>
        <p:nvSpPr>
          <p:cNvPr id="30" name="Shape 28"/>
          <p:cNvSpPr/>
          <p:nvPr/>
        </p:nvSpPr>
        <p:spPr>
          <a:xfrm>
            <a:off x="4754880" y="1371600"/>
            <a:ext cx="3977640" cy="54864"/>
          </a:xfrm>
          <a:prstGeom prst="rect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Shape 29"/>
          <p:cNvSpPr/>
          <p:nvPr/>
        </p:nvSpPr>
        <p:spPr>
          <a:xfrm>
            <a:off x="4754880" y="1371600"/>
            <a:ext cx="54864" cy="3314700"/>
          </a:xfrm>
          <a:prstGeom prst="rect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4892040" y="14813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Miriam Keller</a:t>
            </a:r>
            <a:endParaRPr lang="en-US" sz="1500" dirty="0">
              <a:solidFill>
                <a:srgbClr val="EA0052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92040" y="18470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Lehrerin</a:t>
            </a:r>
            <a:r>
              <a:rPr lang="en-US" sz="13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, 34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2157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Zürich ·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Fussballfan</a:t>
            </a:r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wenig</a:t>
            </a:r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technikaffin</a:t>
            </a:r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lernbereit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609487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Profil</a:t>
            </a:r>
            <a:endParaRPr lang="en-US" sz="1000" dirty="0">
              <a:solidFill>
                <a:srgbClr val="EA0052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4892040" y="281635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Leidenschaftliche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Fussballfan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verfolgt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Bundesliga &amp; Champions League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interessiert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Transferentscheidungen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ihres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Lieblingsclubs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wenig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Erfahrung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Finanzdaten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347142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Was </a:t>
            </a:r>
            <a:r>
              <a:rPr lang="en-US" sz="1000" b="1" dirty="0" err="1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sie</a:t>
            </a:r>
            <a:r>
              <a:rPr lang="en-US" sz="10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</a:t>
            </a:r>
            <a:r>
              <a:rPr lang="en-US" sz="1000" b="1" dirty="0" err="1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erwartet</a:t>
            </a:r>
            <a:endParaRPr lang="en-US" sz="1000" dirty="0">
              <a:solidFill>
                <a:srgbClr val="EA0052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4892040" y="3785933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Transferaktivitäten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des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Lieblingsclubs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nachvollziehen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Transfersummen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&amp;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Marktwerte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anschaulich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verstehen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einfache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Navigation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ohne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Fachjargon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ansprechendes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übersichtliches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Design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Shape 28">
            <a:extLst>
              <a:ext uri="{FF2B5EF4-FFF2-40B4-BE49-F238E27FC236}">
                <a16:creationId xmlns:a16="http://schemas.microsoft.com/office/drawing/2014/main" id="{23BB3AC2-C532-D59B-FD60-9708577B3E69}"/>
              </a:ext>
            </a:extLst>
          </p:cNvPr>
          <p:cNvSpPr/>
          <p:nvPr/>
        </p:nvSpPr>
        <p:spPr>
          <a:xfrm>
            <a:off x="4892040" y="2451621"/>
            <a:ext cx="3794760" cy="3600"/>
          </a:xfrm>
          <a:prstGeom prst="rect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1" name="Shape 28">
            <a:extLst>
              <a:ext uri="{FF2B5EF4-FFF2-40B4-BE49-F238E27FC236}">
                <a16:creationId xmlns:a16="http://schemas.microsoft.com/office/drawing/2014/main" id="{1289B31E-431C-0AE7-1ED2-B023DD331CA1}"/>
              </a:ext>
            </a:extLst>
          </p:cNvPr>
          <p:cNvSpPr/>
          <p:nvPr/>
        </p:nvSpPr>
        <p:spPr>
          <a:xfrm>
            <a:off x="640080" y="2452803"/>
            <a:ext cx="3794760" cy="3600"/>
          </a:xfrm>
          <a:prstGeom prst="rect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C7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10287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20574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0" y="30861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0" y="41148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320040" y="320040"/>
            <a:ext cx="8503920" cy="4503420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4572000" y="320040"/>
            <a:ext cx="0" cy="4503420"/>
          </a:xfrm>
          <a:prstGeom prst="line">
            <a:avLst/>
          </a:prstGeom>
          <a:noFill/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4069080" y="2068830"/>
            <a:ext cx="1005840" cy="1005840"/>
          </a:xfrm>
          <a:prstGeom prst="ellipse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526280" y="2526030"/>
            <a:ext cx="91440" cy="91440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320040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7505852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320040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8356244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365760" y="320040"/>
            <a:ext cx="8412480" cy="448056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54864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713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300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DATEN &amp; METHODIK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1371600"/>
            <a:ext cx="1874520" cy="13716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502920" y="1371600"/>
            <a:ext cx="1874520" cy="54864"/>
          </a:xfrm>
          <a:prstGeom prst="rect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548640" y="15087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10'852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2103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mit Ablöse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1371600"/>
            <a:ext cx="1874520" cy="13716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2606040" y="1371600"/>
            <a:ext cx="1874520" cy="54864"/>
          </a:xfrm>
          <a:prstGeom prst="rect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2651760" y="15087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€43.6 Mrd.</a:t>
            </a:r>
            <a:endParaRPr lang="en-US" sz="1800" dirty="0">
              <a:solidFill>
                <a:srgbClr val="01F5FF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2651760" y="2103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volumen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1371600"/>
            <a:ext cx="1874520" cy="13716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Shape 25"/>
          <p:cNvSpPr/>
          <p:nvPr/>
        </p:nvSpPr>
        <p:spPr>
          <a:xfrm>
            <a:off x="4709160" y="1371600"/>
            <a:ext cx="1874520" cy="54864"/>
          </a:xfrm>
          <a:prstGeom prst="rect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4754880" y="15087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2010–2025</a:t>
            </a:r>
            <a:endParaRPr lang="en-US" sz="1800" dirty="0">
              <a:solidFill>
                <a:srgbClr val="01F5FF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54880" y="2103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Analyse-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zeitraum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12280" y="1371600"/>
            <a:ext cx="1874520" cy="13716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Shape 29"/>
          <p:cNvSpPr/>
          <p:nvPr/>
        </p:nvSpPr>
        <p:spPr>
          <a:xfrm>
            <a:off x="6812280" y="1371600"/>
            <a:ext cx="1874520" cy="54864"/>
          </a:xfrm>
          <a:prstGeom prst="rect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6858000" y="15087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 Ligen</a:t>
            </a:r>
            <a:endParaRPr lang="en-US" sz="1800" dirty="0">
              <a:solidFill>
                <a:srgbClr val="01F5FF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58000" y="2103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Top-Europa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4531" y="2926080"/>
            <a:ext cx="8229600" cy="17373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Shape 33"/>
          <p:cNvSpPr/>
          <p:nvPr/>
        </p:nvSpPr>
        <p:spPr>
          <a:xfrm>
            <a:off x="494531" y="2926080"/>
            <a:ext cx="8229600" cy="54864"/>
          </a:xfrm>
          <a:prstGeom prst="rect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594360" y="3017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Datenpipeline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89746" y="3383280"/>
            <a:ext cx="1371600" cy="10058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635466" y="3429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Scraper</a:t>
            </a:r>
            <a:endParaRPr lang="en-US" sz="1100" dirty="0">
              <a:solidFill>
                <a:srgbClr val="EA0052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635466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Transfermarkt.de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(dcaribou)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961346" y="3886200"/>
            <a:ext cx="27432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1" name="Shape 39"/>
          <p:cNvSpPr/>
          <p:nvPr/>
        </p:nvSpPr>
        <p:spPr>
          <a:xfrm>
            <a:off x="2235666" y="3383280"/>
            <a:ext cx="1371600" cy="10058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2" name="Text 40"/>
          <p:cNvSpPr/>
          <p:nvPr/>
        </p:nvSpPr>
        <p:spPr>
          <a:xfrm>
            <a:off x="2281386" y="3429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Pandas</a:t>
            </a:r>
            <a:endParaRPr lang="en-US" sz="1100" dirty="0">
              <a:solidFill>
                <a:srgbClr val="EA0052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2281386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Bereinigung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&amp; Aggregation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07266" y="3886200"/>
            <a:ext cx="27432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Shape 43"/>
          <p:cNvSpPr/>
          <p:nvPr/>
        </p:nvSpPr>
        <p:spPr>
          <a:xfrm>
            <a:off x="3881586" y="3383280"/>
            <a:ext cx="1371600" cy="10058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6" name="Text 44"/>
          <p:cNvSpPr/>
          <p:nvPr/>
        </p:nvSpPr>
        <p:spPr>
          <a:xfrm>
            <a:off x="3927306" y="3429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Plotly</a:t>
            </a:r>
            <a:endParaRPr lang="en-US" sz="1100" dirty="0">
              <a:solidFill>
                <a:srgbClr val="EA0052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3927306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Interaktive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Visualisierungen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253186" y="3886200"/>
            <a:ext cx="27432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9" name="Shape 47"/>
          <p:cNvSpPr/>
          <p:nvPr/>
        </p:nvSpPr>
        <p:spPr>
          <a:xfrm>
            <a:off x="5527506" y="3383280"/>
            <a:ext cx="1371600" cy="10058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0" name="Text 48"/>
          <p:cNvSpPr/>
          <p:nvPr/>
        </p:nvSpPr>
        <p:spPr>
          <a:xfrm>
            <a:off x="5573226" y="3429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Quarto</a:t>
            </a:r>
            <a:endParaRPr lang="en-US" sz="1100" dirty="0">
              <a:solidFill>
                <a:srgbClr val="EA0052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5573226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Dashboard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&amp; Dokumentation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99106" y="3886200"/>
            <a:ext cx="27432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3" name="Shape 51"/>
          <p:cNvSpPr/>
          <p:nvPr/>
        </p:nvSpPr>
        <p:spPr>
          <a:xfrm>
            <a:off x="7173426" y="3383280"/>
            <a:ext cx="1371600" cy="10058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4" name="Text 52"/>
          <p:cNvSpPr/>
          <p:nvPr/>
        </p:nvSpPr>
        <p:spPr>
          <a:xfrm>
            <a:off x="7219146" y="3429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GitHub</a:t>
            </a:r>
            <a:endParaRPr lang="en-US" sz="1100" dirty="0">
              <a:solidFill>
                <a:srgbClr val="EA0052"/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Pages</a:t>
            </a:r>
            <a:endParaRPr lang="en-US" sz="1100" dirty="0">
              <a:solidFill>
                <a:srgbClr val="EA0052"/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7219146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Deployment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&amp; Publikation</a:t>
            </a:r>
            <a:endParaRPr lang="en-US" sz="900" dirty="0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925148B3-1CCE-9744-EA3D-5AAE89A2BD20}"/>
              </a:ext>
            </a:extLst>
          </p:cNvPr>
          <p:cNvSpPr/>
          <p:nvPr/>
        </p:nvSpPr>
        <p:spPr>
          <a:xfrm>
            <a:off x="502920" y="1161288"/>
            <a:ext cx="813816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C7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10287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20574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0" y="30861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0" y="41148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320040" y="320040"/>
            <a:ext cx="8503920" cy="4503420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4572000" y="320040"/>
            <a:ext cx="0" cy="4503420"/>
          </a:xfrm>
          <a:prstGeom prst="line">
            <a:avLst/>
          </a:prstGeom>
          <a:noFill/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4023738" y="1895019"/>
            <a:ext cx="1005840" cy="1005840"/>
          </a:xfrm>
          <a:prstGeom prst="ellipse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480938" y="2352219"/>
            <a:ext cx="91440" cy="91440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320040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7505852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320040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8356244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365760" y="320040"/>
            <a:ext cx="8412480" cy="448056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548640" y="654509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300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VISUALISIERUNGSSTRATEGIE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578" y="1179501"/>
            <a:ext cx="8229600" cy="658368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457578" y="1179501"/>
            <a:ext cx="502920" cy="658368"/>
          </a:xfrm>
          <a:prstGeom prst="rect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457578" y="1344093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AKT I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51938" y="1234365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Marktwert-Entwicklung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938" y="1526973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04F5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Barplot</a:t>
            </a:r>
            <a:r>
              <a:rPr lang="en-US" sz="1000" dirty="0">
                <a:solidFill>
                  <a:srgbClr val="04F5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Line-Chart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5098" y="1289229"/>
            <a:ext cx="0" cy="438912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3612258" y="1234365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Trend über Zeit sichtbar · mehrere Serien (5 Ligen) direkt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vergleichbar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578" y="1901877"/>
            <a:ext cx="8229600" cy="658368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457578" y="1901877"/>
            <a:ext cx="502920" cy="658368"/>
          </a:xfrm>
          <a:prstGeom prst="rect">
            <a:avLst/>
          </a:prstGeom>
          <a:solidFill>
            <a:srgbClr val="F1BF00"/>
          </a:solidFill>
          <a:ln w="12700">
            <a:solidFill>
              <a:srgbClr val="F1BF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457578" y="2066469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AKT II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51938" y="1956741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Transfer-Dominanz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938" y="2249349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BF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Sankey–Diagram, Netto-Bilanz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5098" y="2011605"/>
            <a:ext cx="0" cy="438912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3612258" y="1956741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Sankey zeigt Geldflüsse zwischen Ligen direkt ·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Nettobilanz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-Balken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zeigen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Käufer/Verkäufer-Rollen über Zeit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578" y="2624253"/>
            <a:ext cx="8229600" cy="658368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Shape 31"/>
          <p:cNvSpPr/>
          <p:nvPr/>
        </p:nvSpPr>
        <p:spPr>
          <a:xfrm>
            <a:off x="457578" y="2624253"/>
            <a:ext cx="502920" cy="658368"/>
          </a:xfrm>
          <a:prstGeom prst="rect">
            <a:avLst/>
          </a:prstGeom>
          <a:solidFill>
            <a:srgbClr val="D10214"/>
          </a:solidFill>
          <a:ln w="12700">
            <a:solidFill>
              <a:srgbClr val="D102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/>
          <p:nvPr/>
        </p:nvSpPr>
        <p:spPr>
          <a:xfrm>
            <a:off x="457578" y="2788845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AKT III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51938" y="2679117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Marktwert-Konzentration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51938" y="2971725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021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Scatter, Treemap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5098" y="2733981"/>
            <a:ext cx="0" cy="438912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3612258" y="2679117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Scatter: Einzelspieler sichtbar, Ausreisser erkennbar · Treemap: proportionale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Dominanz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sofort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sichtbar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578" y="3346629"/>
            <a:ext cx="8229600" cy="658368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0" name="Shape 38"/>
          <p:cNvSpPr/>
          <p:nvPr/>
        </p:nvSpPr>
        <p:spPr>
          <a:xfrm>
            <a:off x="457578" y="3346629"/>
            <a:ext cx="502920" cy="658368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1" name="Text 39"/>
          <p:cNvSpPr/>
          <p:nvPr/>
        </p:nvSpPr>
        <p:spPr>
          <a:xfrm>
            <a:off x="457578" y="3511221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AKT IV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051938" y="3401493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Marktwert = Leistung?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51938" y="3694101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C4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Line-Chart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75098" y="3456357"/>
            <a:ext cx="0" cy="438912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Text 43"/>
          <p:cNvSpPr/>
          <p:nvPr/>
        </p:nvSpPr>
        <p:spPr>
          <a:xfrm>
            <a:off x="3612258" y="3401493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Korrelation direkt ablesbar · Farbe nach Liga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ermöglicht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Gruppenvergleich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578" y="4069005"/>
            <a:ext cx="8229600" cy="658368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7" name="Shape 45"/>
          <p:cNvSpPr/>
          <p:nvPr/>
        </p:nvSpPr>
        <p:spPr>
          <a:xfrm>
            <a:off x="457578" y="4069005"/>
            <a:ext cx="502920" cy="658368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CH">
              <a:solidFill>
                <a:schemeClr val="bg1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457578" y="4233597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AKT V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051938" y="4123869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Transfer-Aufschläge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51938" y="4416477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Line-Chart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475098" y="4178733"/>
            <a:ext cx="0" cy="438912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2" name="Text 50"/>
          <p:cNvSpPr/>
          <p:nvPr/>
        </p:nvSpPr>
        <p:spPr>
          <a:xfrm>
            <a:off x="3612258" y="4123869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Verteilung der Aufschläge über Marktwert je Liga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C7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10287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20574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0" y="30861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0" y="41148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320040" y="320040"/>
            <a:ext cx="8503920" cy="4503420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4572000" y="320040"/>
            <a:ext cx="0" cy="4503420"/>
          </a:xfrm>
          <a:prstGeom prst="line">
            <a:avLst/>
          </a:prstGeom>
          <a:noFill/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4069080" y="2068830"/>
            <a:ext cx="1005840" cy="1005840"/>
          </a:xfrm>
          <a:prstGeom prst="ellipse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526280" y="2526030"/>
            <a:ext cx="91440" cy="91440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320040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7505852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320040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8356244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914400" y="365760"/>
            <a:ext cx="7315200" cy="443484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914400" y="365760"/>
            <a:ext cx="731520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1097279" y="379476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FAZIT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1097280" y="2194560"/>
            <a:ext cx="6949440" cy="566928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1097280" y="2194560"/>
            <a:ext cx="54864" cy="566928"/>
          </a:xfrm>
          <a:prstGeom prst="rect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/>
          <p:nvPr/>
        </p:nvSpPr>
        <p:spPr>
          <a:xfrm>
            <a:off x="1188720" y="226771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27632" y="22860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Marktwerte sind seit dem PL-TV-Vertrag 2016 explodiert — eine Klasse für sich.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97280" y="2852928"/>
            <a:ext cx="6949440" cy="566928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Shape 22"/>
          <p:cNvSpPr/>
          <p:nvPr/>
        </p:nvSpPr>
        <p:spPr>
          <a:xfrm>
            <a:off x="1097280" y="2852928"/>
            <a:ext cx="54864" cy="566928"/>
          </a:xfrm>
          <a:prstGeom prst="rect">
            <a:avLst/>
          </a:prstGeom>
          <a:solidFill>
            <a:srgbClr val="F1BF00"/>
          </a:solidFill>
          <a:ln w="12700">
            <a:solidFill>
              <a:srgbClr val="F1BF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1188720" y="292608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BF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27632" y="294436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Ligue 1 und Bundesliga züchten Talent und verkaufen es an die Premier League.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97280" y="3511296"/>
            <a:ext cx="6949440" cy="566928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Shape 26"/>
          <p:cNvSpPr/>
          <p:nvPr/>
        </p:nvSpPr>
        <p:spPr>
          <a:xfrm>
            <a:off x="1097280" y="3511296"/>
            <a:ext cx="54864" cy="566928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1188720" y="358444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3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27632" y="360273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Der Premier League Tax ist real: die PL zahlt systemisch über Marktwert und setzt Preise.</a:t>
            </a:r>
            <a:endParaRPr lang="en-US" sz="1150" dirty="0"/>
          </a:p>
        </p:txBody>
      </p:sp>
      <p:sp>
        <p:nvSpPr>
          <p:cNvPr id="31" name="Text 29">
            <a:hlinkClick r:id="rId3"/>
          </p:cNvPr>
          <p:cNvSpPr/>
          <p:nvPr/>
        </p:nvSpPr>
        <p:spPr>
          <a:xfrm>
            <a:off x="1097280" y="434340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D4A830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Dashboard: vdss-fs26-ds25a.github.io/ds25a-2-fancyproject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4709160"/>
            <a:ext cx="731520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382</Words>
  <Application>Microsoft Macintosh PowerPoint</Application>
  <PresentationFormat>On-screen Show (16:9)</PresentationFormat>
  <Paragraphs>95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Barlow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 grosse Geld im Europäischen Fussball</dc:title>
  <dc:subject>PptxGenJS Presentation</dc:subject>
  <dc:creator>PptxGenJS</dc:creator>
  <cp:lastModifiedBy>Lt Jay Bärtschi</cp:lastModifiedBy>
  <cp:revision>4</cp:revision>
  <dcterms:created xsi:type="dcterms:W3CDTF">2026-05-31T06:55:56Z</dcterms:created>
  <dcterms:modified xsi:type="dcterms:W3CDTF">2026-05-31T08:44:06Z</dcterms:modified>
</cp:coreProperties>
</file>